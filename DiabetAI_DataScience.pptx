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24787" autoAdjust="0"/>
  </p:normalViewPr>
  <p:slideViewPr>
    <p:cSldViewPr snapToGrid="0" snapToObjects="1">
      <p:cViewPr varScale="1">
        <p:scale>
          <a:sx n="29" d="100"/>
          <a:sy n="29" d="100"/>
        </p:scale>
        <p:origin x="1061" y="34"/>
      </p:cViewPr>
      <p:guideLst/>
    </p:cSldViewPr>
  </p:slideViewPr>
  <p:notesTextViewPr>
    <p:cViewPr>
      <p:scale>
        <a:sx n="50" d="100"/>
        <a:sy n="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8886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Bonjour à tous.</a:t>
            </a:r>
          </a:p>
          <a:p>
            <a:endParaRPr lang="fr-FR" dirty="0"/>
          </a:p>
          <a:p>
            <a:r>
              <a:rPr lang="fr-FR" dirty="0"/>
              <a:t>Aujourd’hui, nous allons présenter notre projet</a:t>
            </a:r>
          </a:p>
          <a:p>
            <a:r>
              <a:rPr lang="fr-FR" dirty="0"/>
              <a:t>Système Intelligent de Prédiction du Diabète.</a:t>
            </a:r>
          </a:p>
          <a:p>
            <a:endParaRPr lang="fr-FR" dirty="0"/>
          </a:p>
          <a:p>
            <a:r>
              <a:rPr lang="fr-FR" dirty="0"/>
              <a:t>Le diabète est une maladie chronique</a:t>
            </a:r>
          </a:p>
          <a:p>
            <a:r>
              <a:rPr lang="fr-FR" dirty="0"/>
              <a:t>qui touche beaucoup de personnes dans le monde.</a:t>
            </a:r>
          </a:p>
          <a:p>
            <a:endParaRPr lang="fr-FR" dirty="0"/>
          </a:p>
          <a:p>
            <a:r>
              <a:rPr lang="fr-FR" dirty="0"/>
              <a:t>Une détection précoce permet</a:t>
            </a:r>
          </a:p>
          <a:p>
            <a:r>
              <a:rPr lang="fr-FR" dirty="0"/>
              <a:t>de réduire les complications</a:t>
            </a:r>
          </a:p>
          <a:p>
            <a:r>
              <a:rPr lang="fr-FR" dirty="0"/>
              <a:t>et d’améliorer le suivi médical.</a:t>
            </a:r>
          </a:p>
          <a:p>
            <a:endParaRPr lang="fr-FR" dirty="0"/>
          </a:p>
          <a:p>
            <a:r>
              <a:rPr lang="fr-FR" dirty="0"/>
              <a:t>Notre objectif est d’utiliser</a:t>
            </a:r>
          </a:p>
          <a:p>
            <a:r>
              <a:rPr lang="fr-FR" dirty="0"/>
              <a:t>les données médicales</a:t>
            </a:r>
          </a:p>
          <a:p>
            <a:r>
              <a:rPr lang="fr-FR" dirty="0"/>
              <a:t>pour aider à prédire le risque de diabète.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Notre projet a plusieurs objectifs.</a:t>
            </a:r>
          </a:p>
          <a:p>
            <a:endParaRPr lang="fr-FR" dirty="0"/>
          </a:p>
          <a:p>
            <a:r>
              <a:rPr lang="fr-FR" dirty="0"/>
              <a:t>D’abord,</a:t>
            </a:r>
          </a:p>
          <a:p>
            <a:r>
              <a:rPr lang="fr-FR" dirty="0"/>
              <a:t>analyser et comprendre les données médicales.</a:t>
            </a:r>
          </a:p>
          <a:p>
            <a:endParaRPr lang="fr-FR" dirty="0"/>
          </a:p>
          <a:p>
            <a:r>
              <a:rPr lang="fr-FR" dirty="0"/>
              <a:t>Ensuite,</a:t>
            </a:r>
          </a:p>
          <a:p>
            <a:r>
              <a:rPr lang="fr-FR" dirty="0"/>
              <a:t>nettoyer les données</a:t>
            </a:r>
          </a:p>
          <a:p>
            <a:r>
              <a:rPr lang="fr-FR" dirty="0"/>
              <a:t>et corriger les erreurs.</a:t>
            </a:r>
          </a:p>
          <a:p>
            <a:endParaRPr lang="fr-FR" dirty="0"/>
          </a:p>
          <a:p>
            <a:r>
              <a:rPr lang="fr-FR" dirty="0"/>
              <a:t>Après cela,</a:t>
            </a:r>
          </a:p>
          <a:p>
            <a:r>
              <a:rPr lang="fr-FR" dirty="0"/>
              <a:t>préparer les données</a:t>
            </a:r>
          </a:p>
          <a:p>
            <a:r>
              <a:rPr lang="fr-FR" dirty="0"/>
              <a:t>pour l’apprentissage du modèle.</a:t>
            </a:r>
          </a:p>
          <a:p>
            <a:endParaRPr lang="fr-FR" dirty="0"/>
          </a:p>
          <a:p>
            <a:r>
              <a:rPr lang="fr-FR" dirty="0"/>
              <a:t>Puis,</a:t>
            </a:r>
          </a:p>
          <a:p>
            <a:r>
              <a:rPr lang="fr-FR" dirty="0"/>
              <a:t>entraîner un modèle de prédiction.</a:t>
            </a:r>
          </a:p>
          <a:p>
            <a:endParaRPr lang="fr-FR" dirty="0"/>
          </a:p>
          <a:p>
            <a:r>
              <a:rPr lang="fr-FR" dirty="0"/>
              <a:t>Et enfin,</a:t>
            </a:r>
          </a:p>
          <a:p>
            <a:r>
              <a:rPr lang="fr-FR" dirty="0"/>
              <a:t>proposer une aide à la décision médicale.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Nous avons utilisé</a:t>
            </a:r>
          </a:p>
          <a:p>
            <a:r>
              <a:rPr lang="fr-FR" dirty="0"/>
              <a:t>le </a:t>
            </a:r>
            <a:r>
              <a:rPr lang="fr-FR" dirty="0" err="1"/>
              <a:t>dataset</a:t>
            </a:r>
            <a:r>
              <a:rPr lang="fr-FR" dirty="0"/>
              <a:t> </a:t>
            </a:r>
            <a:r>
              <a:rPr lang="fr-FR" dirty="0" err="1"/>
              <a:t>Pima</a:t>
            </a:r>
            <a:r>
              <a:rPr lang="fr-FR" dirty="0"/>
              <a:t> </a:t>
            </a:r>
            <a:r>
              <a:rPr lang="fr-FR" dirty="0" err="1"/>
              <a:t>Indians</a:t>
            </a:r>
            <a:r>
              <a:rPr lang="fr-FR" dirty="0"/>
              <a:t> </a:t>
            </a:r>
            <a:r>
              <a:rPr lang="fr-FR" dirty="0" err="1"/>
              <a:t>Diabetes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Il contient 768 patients</a:t>
            </a:r>
          </a:p>
          <a:p>
            <a:r>
              <a:rPr lang="fr-FR" dirty="0"/>
              <a:t>et 9 variables médicales.</a:t>
            </a:r>
          </a:p>
          <a:p>
            <a:endParaRPr lang="fr-FR" dirty="0"/>
          </a:p>
          <a:p>
            <a:r>
              <a:rPr lang="fr-FR" dirty="0"/>
              <a:t>La variable cible s’appelle </a:t>
            </a:r>
            <a:r>
              <a:rPr lang="fr-FR" dirty="0" err="1"/>
              <a:t>Outcome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Si </a:t>
            </a:r>
            <a:r>
              <a:rPr lang="fr-FR" dirty="0" err="1"/>
              <a:t>Outcome</a:t>
            </a:r>
            <a:r>
              <a:rPr lang="fr-FR" dirty="0"/>
              <a:t> est égal à 0,</a:t>
            </a:r>
          </a:p>
          <a:p>
            <a:r>
              <a:rPr lang="fr-FR" dirty="0"/>
              <a:t>cela signifie que le patient</a:t>
            </a:r>
          </a:p>
          <a:p>
            <a:r>
              <a:rPr lang="fr-FR" dirty="0"/>
              <a:t>n’est pas diabétique.</a:t>
            </a:r>
          </a:p>
          <a:p>
            <a:endParaRPr lang="fr-FR" dirty="0"/>
          </a:p>
          <a:p>
            <a:r>
              <a:rPr lang="fr-FR" dirty="0"/>
              <a:t>Si </a:t>
            </a:r>
            <a:r>
              <a:rPr lang="fr-FR" dirty="0" err="1"/>
              <a:t>Outcome</a:t>
            </a:r>
            <a:r>
              <a:rPr lang="fr-FR" dirty="0"/>
              <a:t> est égal à 1,</a:t>
            </a:r>
          </a:p>
          <a:p>
            <a:r>
              <a:rPr lang="fr-FR" dirty="0"/>
              <a:t>cela signifie que le patient</a:t>
            </a:r>
          </a:p>
          <a:p>
            <a:r>
              <a:rPr lang="fr-FR" dirty="0"/>
              <a:t>est diabétique.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Certaines variables</a:t>
            </a:r>
          </a:p>
          <a:p>
            <a:r>
              <a:rPr lang="fr-FR" dirty="0"/>
              <a:t>sont plus importantes que d’autres.</a:t>
            </a:r>
          </a:p>
          <a:p>
            <a:endParaRPr lang="fr-FR" dirty="0"/>
          </a:p>
          <a:p>
            <a:r>
              <a:rPr lang="fr-FR" dirty="0"/>
              <a:t>La plus importante est le glucose.</a:t>
            </a:r>
          </a:p>
          <a:p>
            <a:endParaRPr lang="fr-FR" dirty="0"/>
          </a:p>
          <a:p>
            <a:r>
              <a:rPr lang="fr-FR" dirty="0"/>
              <a:t>Ensuite,</a:t>
            </a:r>
          </a:p>
          <a:p>
            <a:r>
              <a:rPr lang="fr-FR" dirty="0"/>
              <a:t>nous avons le BMI,</a:t>
            </a:r>
          </a:p>
          <a:p>
            <a:r>
              <a:rPr lang="fr-FR" dirty="0"/>
              <a:t>l’insuline,</a:t>
            </a:r>
          </a:p>
          <a:p>
            <a:r>
              <a:rPr lang="fr-FR" dirty="0"/>
              <a:t>la pression artérielle</a:t>
            </a:r>
          </a:p>
          <a:p>
            <a:r>
              <a:rPr lang="fr-FR" dirty="0"/>
              <a:t>et l’âge.</a:t>
            </a:r>
          </a:p>
          <a:p>
            <a:endParaRPr lang="fr-FR" dirty="0"/>
          </a:p>
          <a:p>
            <a:r>
              <a:rPr lang="fr-FR" dirty="0"/>
              <a:t>Ces variables influencent fortement</a:t>
            </a:r>
          </a:p>
          <a:p>
            <a:r>
              <a:rPr lang="fr-FR" dirty="0"/>
              <a:t>la prédiction du diabète.</a:t>
            </a:r>
          </a:p>
          <a:p>
            <a:endParaRPr lang="fr-FR" dirty="0"/>
          </a:p>
          <a:p>
            <a:r>
              <a:rPr lang="fr-FR" dirty="0"/>
              <a:t>Par exemple,</a:t>
            </a:r>
          </a:p>
          <a:p>
            <a:r>
              <a:rPr lang="fr-FR" dirty="0"/>
              <a:t>un glucose élevé</a:t>
            </a:r>
          </a:p>
          <a:p>
            <a:r>
              <a:rPr lang="fr-FR" dirty="0"/>
              <a:t>augmente le risque de diabète.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Pendant le nettoyage des données,</a:t>
            </a:r>
          </a:p>
          <a:p>
            <a:r>
              <a:rPr lang="fr-FR" dirty="0"/>
              <a:t>nous avons trouvé</a:t>
            </a:r>
          </a:p>
          <a:p>
            <a:r>
              <a:rPr lang="fr-FR" dirty="0"/>
              <a:t>des faux zéros.</a:t>
            </a:r>
          </a:p>
          <a:p>
            <a:endParaRPr lang="fr-FR" dirty="0"/>
          </a:p>
          <a:p>
            <a:r>
              <a:rPr lang="fr-FR" dirty="0"/>
              <a:t>Par exemple,</a:t>
            </a:r>
          </a:p>
          <a:p>
            <a:r>
              <a:rPr lang="fr-FR" dirty="0"/>
              <a:t>un glucose égal à zéro</a:t>
            </a:r>
          </a:p>
          <a:p>
            <a:r>
              <a:rPr lang="fr-FR" dirty="0"/>
              <a:t>n’est pas logique médicalement.</a:t>
            </a:r>
          </a:p>
          <a:p>
            <a:endParaRPr lang="fr-FR" dirty="0"/>
          </a:p>
          <a:p>
            <a:r>
              <a:rPr lang="fr-FR" dirty="0"/>
              <a:t>Nous avons trouvé cela dans :</a:t>
            </a:r>
          </a:p>
          <a:p>
            <a:endParaRPr lang="fr-FR" dirty="0"/>
          </a:p>
          <a:p>
            <a:r>
              <a:rPr lang="fr-FR" dirty="0"/>
              <a:t>Glucose,</a:t>
            </a:r>
          </a:p>
          <a:p>
            <a:r>
              <a:rPr lang="fr-FR" dirty="0" err="1"/>
              <a:t>BloodPressure</a:t>
            </a:r>
            <a:r>
              <a:rPr lang="fr-FR" dirty="0"/>
              <a:t>,</a:t>
            </a:r>
          </a:p>
          <a:p>
            <a:r>
              <a:rPr lang="fr-FR" dirty="0" err="1"/>
              <a:t>Insulin</a:t>
            </a:r>
            <a:r>
              <a:rPr lang="fr-FR" dirty="0"/>
              <a:t>,</a:t>
            </a:r>
          </a:p>
          <a:p>
            <a:r>
              <a:rPr lang="fr-FR" dirty="0" err="1"/>
              <a:t>SkinThickness</a:t>
            </a:r>
            <a:endParaRPr lang="fr-FR" dirty="0"/>
          </a:p>
          <a:p>
            <a:r>
              <a:rPr lang="fr-FR" dirty="0"/>
              <a:t>et BMI.</a:t>
            </a:r>
          </a:p>
          <a:p>
            <a:endParaRPr lang="fr-FR" dirty="0"/>
          </a:p>
          <a:p>
            <a:r>
              <a:rPr lang="fr-FR" dirty="0"/>
              <a:t>La solution était</a:t>
            </a:r>
          </a:p>
          <a:p>
            <a:r>
              <a:rPr lang="fr-FR" dirty="0"/>
              <a:t>de remplacer ces zéros</a:t>
            </a:r>
          </a:p>
          <a:p>
            <a:r>
              <a:rPr lang="fr-FR" dirty="0"/>
              <a:t>par la médiane.</a:t>
            </a:r>
          </a:p>
          <a:p>
            <a:endParaRPr lang="fr-FR" dirty="0"/>
          </a:p>
          <a:p>
            <a:r>
              <a:rPr lang="fr-FR" dirty="0"/>
              <a:t>Cela rend le </a:t>
            </a:r>
            <a:r>
              <a:rPr lang="fr-FR" dirty="0" err="1"/>
              <a:t>dataset</a:t>
            </a:r>
            <a:endParaRPr lang="fr-FR" dirty="0"/>
          </a:p>
          <a:p>
            <a:r>
              <a:rPr lang="fr-FR" dirty="0"/>
              <a:t>plus propre et plus 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Nous avons réalisé</a:t>
            </a:r>
          </a:p>
          <a:p>
            <a:r>
              <a:rPr lang="fr-FR" dirty="0"/>
              <a:t>une analyse exploratoire des données,</a:t>
            </a:r>
          </a:p>
          <a:p>
            <a:r>
              <a:rPr lang="fr-FR" dirty="0"/>
              <a:t>appelée EDA.</a:t>
            </a:r>
          </a:p>
          <a:p>
            <a:endParaRPr lang="fr-FR" dirty="0"/>
          </a:p>
          <a:p>
            <a:r>
              <a:rPr lang="fr-FR" dirty="0"/>
              <a:t>Nous avons utilisé :</a:t>
            </a:r>
          </a:p>
          <a:p>
            <a:endParaRPr lang="fr-FR" dirty="0"/>
          </a:p>
          <a:p>
            <a:r>
              <a:rPr lang="fr-FR" dirty="0"/>
              <a:t>un </a:t>
            </a:r>
            <a:r>
              <a:rPr lang="fr-FR" dirty="0" err="1"/>
              <a:t>countplot</a:t>
            </a:r>
            <a:r>
              <a:rPr lang="fr-FR" dirty="0"/>
              <a:t> pour voir</a:t>
            </a:r>
          </a:p>
          <a:p>
            <a:r>
              <a:rPr lang="fr-FR" dirty="0"/>
              <a:t>la distribution des patients,</a:t>
            </a:r>
          </a:p>
          <a:p>
            <a:endParaRPr lang="fr-FR" dirty="0"/>
          </a:p>
          <a:p>
            <a:r>
              <a:rPr lang="fr-FR" dirty="0"/>
              <a:t>un histogramme pour le glucose,</a:t>
            </a:r>
          </a:p>
          <a:p>
            <a:endParaRPr lang="fr-FR" dirty="0"/>
          </a:p>
          <a:p>
            <a:r>
              <a:rPr lang="fr-FR" dirty="0"/>
              <a:t>une </a:t>
            </a:r>
            <a:r>
              <a:rPr lang="fr-FR" dirty="0" err="1"/>
              <a:t>heatmap</a:t>
            </a:r>
            <a:r>
              <a:rPr lang="fr-FR" dirty="0"/>
              <a:t> de corrélation,</a:t>
            </a:r>
          </a:p>
          <a:p>
            <a:endParaRPr lang="fr-FR" dirty="0"/>
          </a:p>
          <a:p>
            <a:r>
              <a:rPr lang="fr-FR" dirty="0"/>
              <a:t>et un </a:t>
            </a:r>
            <a:r>
              <a:rPr lang="fr-FR" dirty="0" err="1"/>
              <a:t>boxplot</a:t>
            </a:r>
            <a:r>
              <a:rPr lang="fr-FR" dirty="0"/>
              <a:t> pour le BMI.</a:t>
            </a:r>
          </a:p>
          <a:p>
            <a:endParaRPr lang="fr-FR" dirty="0"/>
          </a:p>
          <a:p>
            <a:r>
              <a:rPr lang="fr-FR" dirty="0"/>
              <a:t>Cela nous aide</a:t>
            </a:r>
          </a:p>
          <a:p>
            <a:r>
              <a:rPr lang="fr-FR" dirty="0"/>
              <a:t>à mieux comprendre les données</a:t>
            </a:r>
          </a:p>
          <a:p>
            <a:r>
              <a:rPr lang="fr-FR" dirty="0"/>
              <a:t>avant la modélisation.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Avant l’entraînement,</a:t>
            </a:r>
          </a:p>
          <a:p>
            <a:r>
              <a:rPr lang="fr-FR" dirty="0"/>
              <a:t>nous avons préparé les données.</a:t>
            </a:r>
          </a:p>
          <a:p>
            <a:endParaRPr lang="fr-FR" dirty="0"/>
          </a:p>
          <a:p>
            <a:r>
              <a:rPr lang="fr-FR" dirty="0"/>
              <a:t>D’abord,</a:t>
            </a:r>
          </a:p>
          <a:p>
            <a:r>
              <a:rPr lang="fr-FR" dirty="0"/>
              <a:t>nous avons séparé X et y.</a:t>
            </a:r>
          </a:p>
          <a:p>
            <a:endParaRPr lang="fr-FR" dirty="0"/>
          </a:p>
          <a:p>
            <a:r>
              <a:rPr lang="fr-FR" dirty="0"/>
              <a:t>X contient les variables d’entrée</a:t>
            </a:r>
          </a:p>
          <a:p>
            <a:endParaRPr lang="fr-FR" dirty="0"/>
          </a:p>
          <a:p>
            <a:r>
              <a:rPr lang="fr-FR" dirty="0"/>
              <a:t>et y contient la variable cible </a:t>
            </a:r>
            <a:r>
              <a:rPr lang="fr-FR" dirty="0" err="1"/>
              <a:t>Outcome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Ensuite,</a:t>
            </a:r>
          </a:p>
          <a:p>
            <a:r>
              <a:rPr lang="fr-FR" dirty="0"/>
              <a:t>nous avons utilisé</a:t>
            </a:r>
          </a:p>
          <a:p>
            <a:r>
              <a:rPr lang="fr-FR" dirty="0"/>
              <a:t>Train Test Split</a:t>
            </a:r>
          </a:p>
          <a:p>
            <a:r>
              <a:rPr lang="fr-FR" dirty="0"/>
              <a:t>pour diviser les données.</a:t>
            </a:r>
          </a:p>
          <a:p>
            <a:endParaRPr lang="fr-FR" dirty="0"/>
          </a:p>
          <a:p>
            <a:r>
              <a:rPr lang="fr-FR" dirty="0"/>
              <a:t>Enfin,</a:t>
            </a:r>
          </a:p>
          <a:p>
            <a:r>
              <a:rPr lang="fr-FR" dirty="0"/>
              <a:t>nous avons appliqué </a:t>
            </a:r>
            <a:r>
              <a:rPr lang="fr-FR" dirty="0" err="1"/>
              <a:t>StandardScaler</a:t>
            </a:r>
            <a:endParaRPr lang="fr-FR" dirty="0"/>
          </a:p>
          <a:p>
            <a:r>
              <a:rPr lang="fr-FR" dirty="0"/>
              <a:t>pour normaliser les valeurs.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Après l’évaluation,</a:t>
            </a:r>
          </a:p>
          <a:p>
            <a:r>
              <a:rPr lang="fr-FR" dirty="0"/>
              <a:t>nous avons obtenu</a:t>
            </a:r>
          </a:p>
          <a:p>
            <a:r>
              <a:rPr lang="fr-FR" dirty="0"/>
              <a:t>une </a:t>
            </a:r>
            <a:r>
              <a:rPr lang="fr-FR" dirty="0" err="1"/>
              <a:t>accuracy</a:t>
            </a:r>
            <a:r>
              <a:rPr lang="fr-FR" dirty="0"/>
              <a:t> d’environ 75 pour cent.</a:t>
            </a:r>
          </a:p>
          <a:p>
            <a:endParaRPr lang="fr-FR" dirty="0"/>
          </a:p>
          <a:p>
            <a:r>
              <a:rPr lang="fr-FR" dirty="0"/>
              <a:t>Nous avons aussi utilisé :</a:t>
            </a:r>
          </a:p>
          <a:p>
            <a:endParaRPr lang="fr-FR" dirty="0"/>
          </a:p>
          <a:p>
            <a:r>
              <a:rPr lang="fr-FR" dirty="0" err="1"/>
              <a:t>Precision</a:t>
            </a:r>
            <a:r>
              <a:rPr lang="fr-FR" dirty="0"/>
              <a:t>,</a:t>
            </a:r>
          </a:p>
          <a:p>
            <a:r>
              <a:rPr lang="fr-FR" dirty="0" err="1"/>
              <a:t>Recall</a:t>
            </a:r>
            <a:r>
              <a:rPr lang="fr-FR" dirty="0"/>
              <a:t>,</a:t>
            </a:r>
          </a:p>
          <a:p>
            <a:r>
              <a:rPr lang="fr-FR" dirty="0"/>
              <a:t>F1-score</a:t>
            </a:r>
          </a:p>
          <a:p>
            <a:r>
              <a:rPr lang="fr-FR" dirty="0"/>
              <a:t>et la confusion matrix.</a:t>
            </a:r>
          </a:p>
          <a:p>
            <a:endParaRPr lang="fr-FR" dirty="0"/>
          </a:p>
          <a:p>
            <a:r>
              <a:rPr lang="fr-FR" dirty="0"/>
              <a:t>Le résultat est satisfaisant</a:t>
            </a:r>
          </a:p>
          <a:p>
            <a:r>
              <a:rPr lang="fr-FR" dirty="0"/>
              <a:t>pour un premier modèle.</a:t>
            </a:r>
          </a:p>
          <a:p>
            <a:endParaRPr lang="fr-FR" dirty="0"/>
          </a:p>
          <a:p>
            <a:r>
              <a:rPr lang="fr-FR" dirty="0"/>
              <a:t>Cela montre que le système</a:t>
            </a:r>
          </a:p>
          <a:p>
            <a:r>
              <a:rPr lang="fr-FR" dirty="0"/>
              <a:t>peut bien aider</a:t>
            </a:r>
          </a:p>
          <a:p>
            <a:r>
              <a:rPr lang="fr-FR" dirty="0"/>
              <a:t>à la prédiction du diabète.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Pour conclure,</a:t>
            </a:r>
          </a:p>
          <a:p>
            <a:r>
              <a:rPr lang="fr-FR" dirty="0"/>
              <a:t>ce projet montre</a:t>
            </a:r>
          </a:p>
          <a:p>
            <a:r>
              <a:rPr lang="fr-FR" dirty="0"/>
              <a:t>l’importance de la Science des Données</a:t>
            </a:r>
          </a:p>
          <a:p>
            <a:r>
              <a:rPr lang="fr-FR" dirty="0"/>
              <a:t>dans le domaine médical.</a:t>
            </a:r>
          </a:p>
          <a:p>
            <a:endParaRPr lang="fr-FR" dirty="0"/>
          </a:p>
          <a:p>
            <a:r>
              <a:rPr lang="fr-FR" dirty="0"/>
              <a:t>Grâce au nettoyage,</a:t>
            </a:r>
          </a:p>
          <a:p>
            <a:r>
              <a:rPr lang="fr-FR" dirty="0"/>
              <a:t>à l’analyse</a:t>
            </a:r>
          </a:p>
          <a:p>
            <a:r>
              <a:rPr lang="fr-FR" dirty="0"/>
              <a:t>et à la bonne préparation des données,</a:t>
            </a:r>
          </a:p>
          <a:p>
            <a:r>
              <a:rPr lang="fr-FR" dirty="0"/>
              <a:t>nous obtenons de meilleurs résultats.</a:t>
            </a:r>
          </a:p>
          <a:p>
            <a:endParaRPr lang="fr-FR" dirty="0"/>
          </a:p>
          <a:p>
            <a:r>
              <a:rPr lang="fr-FR" dirty="0"/>
              <a:t>Des données bien préparées</a:t>
            </a:r>
          </a:p>
          <a:p>
            <a:r>
              <a:rPr lang="fr-FR" dirty="0"/>
              <a:t>permettent une prédiction</a:t>
            </a:r>
          </a:p>
          <a:p>
            <a:r>
              <a:rPr lang="fr-FR" dirty="0"/>
              <a:t>plus fiable et plus utile.</a:t>
            </a:r>
          </a:p>
          <a:p>
            <a:endParaRPr lang="fr-FR" dirty="0"/>
          </a:p>
          <a:p>
            <a:r>
              <a:rPr lang="fr-FR"/>
              <a:t>Merci pour votre attention.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3657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13203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0D2D5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274320"/>
            <a:ext cx="2926080" cy="411480"/>
          </a:xfrm>
          <a:prstGeom prst="roundRect">
            <a:avLst>
              <a:gd name="adj" fmla="val 22222"/>
            </a:avLst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274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 Science des Données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Intelligent de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6459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du Diabète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365760" y="2606040"/>
            <a:ext cx="109728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65760" y="27432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précoce par Machine Learning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dataset Pima Indians Diabetes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657600"/>
            <a:ext cx="41148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8D4"/>
                </a:solidFill>
              </a:rPr>
              <a:t>Réalisé par : </a:t>
            </a:r>
            <a:r>
              <a:rPr lang="en-US" sz="1200" b="1" dirty="0">
                <a:solidFill>
                  <a:srgbClr val="FFFFFF"/>
                </a:solidFill>
              </a:rPr>
              <a:t>Yassine Rachid  •  Jassir Matallah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8BB8D4"/>
                </a:solidFill>
              </a:rPr>
              <a:t>Année universitaire : 2025/2026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822960" cy="822960"/>
          </a:xfrm>
          <a:prstGeom prst="rect">
            <a:avLst/>
          </a:prstGeom>
          <a:solidFill>
            <a:srgbClr val="13203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217920" y="23317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768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17920" y="27889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B8D4"/>
                </a:solidFill>
              </a:rPr>
              <a:t>Échantillons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7178040" y="2286000"/>
            <a:ext cx="822960" cy="822960"/>
          </a:xfrm>
          <a:prstGeom prst="rect">
            <a:avLst/>
          </a:prstGeom>
          <a:solidFill>
            <a:srgbClr val="13203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7178040" y="23317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9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78040" y="27889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B8D4"/>
                </a:solidFill>
              </a:rPr>
              <a:t>Variables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8138160" y="2286000"/>
            <a:ext cx="822960" cy="822960"/>
          </a:xfrm>
          <a:prstGeom prst="rect">
            <a:avLst/>
          </a:prstGeom>
          <a:solidFill>
            <a:srgbClr val="13203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8138160" y="23317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75%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138160" y="27889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B8D4"/>
                </a:solidFill>
              </a:rPr>
              <a:t>Accuracy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Introduction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27432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325880" y="1463040"/>
            <a:ext cx="640080" cy="640080"/>
          </a:xfrm>
          <a:prstGeom prst="ellipse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32588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22128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Maladie Chronique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724912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diabète touche 537 millions de personnes dans le monde. Sa détection tardive entraîne des complications graves.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200400" y="1280160"/>
            <a:ext cx="27432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251960" y="1463040"/>
            <a:ext cx="640080" cy="640080"/>
          </a:xfrm>
          <a:prstGeom prst="ellipse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25196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🔬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37560" y="22128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Précoce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2724912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diagnostic anticipé permet de réduire les complications, d'améliorer la qualité de vie et de personnaliser les traitements.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128016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6126480" y="1280160"/>
            <a:ext cx="27432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7178040" y="1463040"/>
            <a:ext cx="640080" cy="640080"/>
          </a:xfrm>
          <a:prstGeom prst="ellipse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717804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63640" y="22128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 à la Décision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2724912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outils de Machine Learning assistent les médecins avec des prédictions fiables basées sur des données médicales.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Objectifs du Projet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0" cy="164592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548640" cy="548640"/>
          </a:xfrm>
          <a:prstGeom prst="ellipse">
            <a:avLst/>
          </a:prstGeom>
          <a:solidFill>
            <a:srgbClr val="1565C0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0" y="1280160"/>
            <a:ext cx="7772400" cy="603504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1005840" y="1280160"/>
            <a:ext cx="54864" cy="6035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143000" y="1325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Analyse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1581912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8D4"/>
                </a:solidFill>
              </a:rPr>
              <a:t>Explorer et comprendre les données médicales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2587752"/>
            <a:ext cx="0" cy="164592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65760" y="2039112"/>
            <a:ext cx="548640" cy="548640"/>
          </a:xfrm>
          <a:prstGeom prst="ellipse">
            <a:avLst/>
          </a:prstGeom>
          <a:solidFill>
            <a:srgbClr val="1565C0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65760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05840" y="1993392"/>
            <a:ext cx="7772400" cy="603504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1005840" y="1993392"/>
            <a:ext cx="54864" cy="60350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1143000" y="20391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Nettoyage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2295144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8D4"/>
                </a:solidFill>
              </a:rPr>
              <a:t>Détecter et corriger les valeurs aberrantes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" y="3300984"/>
            <a:ext cx="0" cy="164592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65760" y="2752344"/>
            <a:ext cx="548640" cy="548640"/>
          </a:xfrm>
          <a:prstGeom prst="ellipse">
            <a:avLst/>
          </a:prstGeom>
          <a:solidFill>
            <a:srgbClr val="1565C0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65760" y="27523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5840" y="2706624"/>
            <a:ext cx="7772400" cy="603504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1005840" y="2706624"/>
            <a:ext cx="54864" cy="6035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1143000" y="27523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Préparation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" y="3008376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8D4"/>
                </a:solidFill>
              </a:rPr>
              <a:t>Normaliser et partitionner les données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8368" y="4014216"/>
            <a:ext cx="0" cy="164592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65760" y="3465576"/>
            <a:ext cx="548640" cy="548640"/>
          </a:xfrm>
          <a:prstGeom prst="ellipse">
            <a:avLst/>
          </a:prstGeom>
          <a:solidFill>
            <a:srgbClr val="1565C0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65760" y="34655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05840" y="3419856"/>
            <a:ext cx="7772400" cy="603504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1005840" y="3419856"/>
            <a:ext cx="54864" cy="60350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1143000" y="34655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Modélisation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43000" y="3721608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8D4"/>
                </a:solidFill>
              </a:rPr>
              <a:t>Entraîner un modèle ML de prédiction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178808"/>
            <a:ext cx="548640" cy="548640"/>
          </a:xfrm>
          <a:prstGeom prst="ellipse">
            <a:avLst/>
          </a:prstGeom>
          <a:solidFill>
            <a:srgbClr val="1565C0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365760" y="4178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05840" y="4133088"/>
            <a:ext cx="7772400" cy="603504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1005840" y="4133088"/>
            <a:ext cx="54864" cy="6035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1143000" y="41788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Décision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43000" y="443484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8D4"/>
                </a:solidFill>
              </a:rPr>
              <a:t>Proposer une aide au diagnostic médical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Dataset — Pima Indians Diabetes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9566"/>
            <a:ext cx="1901952" cy="1005840"/>
          </a:xfrm>
          <a:prstGeom prst="rect">
            <a:avLst/>
          </a:prstGeom>
          <a:solidFill>
            <a:srgbClr val="0A1628"/>
          </a:solidFill>
          <a:ln w="254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1145286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565C0"/>
                </a:solidFill>
              </a:rPr>
              <a:t>768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1693926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B8D4"/>
                </a:solidFill>
              </a:rPr>
              <a:t>Échantillons patients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04288" y="1113282"/>
            <a:ext cx="1901952" cy="1005840"/>
          </a:xfrm>
          <a:prstGeom prst="rect">
            <a:avLst/>
          </a:prstGeom>
          <a:solidFill>
            <a:srgbClr val="0A1628"/>
          </a:solidFill>
          <a:ln w="254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304288" y="1159002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96C7"/>
                </a:solidFill>
              </a:rPr>
              <a:t>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304288" y="1707642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B8D4"/>
                </a:solidFill>
              </a:rPr>
              <a:t>Colonnes / Variables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148078"/>
            <a:ext cx="1901952" cy="1005840"/>
          </a:xfrm>
          <a:prstGeom prst="rect">
            <a:avLst/>
          </a:prstGeom>
          <a:solidFill>
            <a:srgbClr val="0A1628"/>
          </a:solidFill>
          <a:ln w="254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74320" y="2193798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D4AA"/>
                </a:solidFill>
              </a:rPr>
              <a:t>Outcome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74320" y="2742438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B8D4"/>
                </a:solidFill>
              </a:rPr>
              <a:t>Variable cible binaire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7744" y="3223260"/>
            <a:ext cx="4023360" cy="1783080"/>
          </a:xfrm>
          <a:prstGeom prst="rect">
            <a:avLst/>
          </a:prstGeom>
          <a:solidFill>
            <a:srgbClr val="F1F5F9"/>
          </a:solidFill>
          <a:ln w="12700">
            <a:solidFill>
              <a:srgbClr val="DCE8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29184" y="32872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</a:rPr>
              <a:t>Variable Cible — Outcome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0624" y="3726180"/>
            <a:ext cx="1645920" cy="9144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20624" y="37261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AA"/>
                </a:solidFill>
              </a:rPr>
              <a:t>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20624" y="420166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Non Diabétique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03704" y="3726180"/>
            <a:ext cx="1737360" cy="914400"/>
          </a:xfrm>
          <a:prstGeom prst="rect">
            <a:avLst/>
          </a:prstGeom>
          <a:solidFill>
            <a:srgbClr val="FFF0F0"/>
          </a:solidFill>
          <a:ln w="1905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203704" y="37261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53E3E"/>
                </a:solidFill>
              </a:rPr>
              <a:t>1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2203704" y="42016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Diabétique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9184" y="47320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268 cas positifs (34.9%)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17720" y="1149096"/>
            <a:ext cx="4206240" cy="363016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709160" y="121310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Variables du Dataset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1633728"/>
            <a:ext cx="4114800" cy="301752"/>
          </a:xfrm>
          <a:prstGeom prst="rect">
            <a:avLst/>
          </a:prstGeom>
          <a:solidFill>
            <a:srgbClr val="132038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754880" y="16611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Pregnancies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03720" y="16611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B8D4"/>
                </a:solidFill>
              </a:rPr>
              <a:t>Numérique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63440" y="1981200"/>
            <a:ext cx="4114800" cy="301752"/>
          </a:xfrm>
          <a:prstGeom prst="rect">
            <a:avLst/>
          </a:prstGeom>
          <a:solidFill>
            <a:srgbClr val="132038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754880" y="200863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Glucose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903720" y="20086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B8D4"/>
                </a:solidFill>
              </a:rPr>
              <a:t>Numérique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2328672"/>
            <a:ext cx="4114800" cy="301752"/>
          </a:xfrm>
          <a:prstGeom prst="rect">
            <a:avLst/>
          </a:prstGeom>
          <a:solidFill>
            <a:srgbClr val="132038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754880" y="235610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BloodPressure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03720" y="235610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B8D4"/>
                </a:solidFill>
              </a:rPr>
              <a:t>Numérique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2676144"/>
            <a:ext cx="4114800" cy="301752"/>
          </a:xfrm>
          <a:prstGeom prst="rect">
            <a:avLst/>
          </a:prstGeom>
          <a:solidFill>
            <a:srgbClr val="132038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754880" y="270357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SkinThickness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903720" y="27035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B8D4"/>
                </a:solidFill>
              </a:rPr>
              <a:t>Numérique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63440" y="3023616"/>
            <a:ext cx="4114800" cy="301752"/>
          </a:xfrm>
          <a:prstGeom prst="rect">
            <a:avLst/>
          </a:prstGeom>
          <a:solidFill>
            <a:srgbClr val="132038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754880" y="30510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Insulin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903720" y="30510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B8D4"/>
                </a:solidFill>
              </a:rPr>
              <a:t>Numérique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63440" y="3371088"/>
            <a:ext cx="4114800" cy="301752"/>
          </a:xfrm>
          <a:prstGeom prst="rect">
            <a:avLst/>
          </a:prstGeom>
          <a:solidFill>
            <a:srgbClr val="132038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754880" y="339852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BMI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903720" y="33985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B8D4"/>
                </a:solidFill>
              </a:rPr>
              <a:t>Décimal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63440" y="3718560"/>
            <a:ext cx="4114800" cy="301752"/>
          </a:xfrm>
          <a:prstGeom prst="rect">
            <a:avLst/>
          </a:prstGeom>
          <a:solidFill>
            <a:srgbClr val="132038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4754880" y="374599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DiabetesPedigreeFunction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903720" y="374599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B8D4"/>
                </a:solidFill>
              </a:rPr>
              <a:t>Décimal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63440" y="4066032"/>
            <a:ext cx="4114800" cy="301752"/>
          </a:xfrm>
          <a:prstGeom prst="rect">
            <a:avLst/>
          </a:prstGeom>
          <a:solidFill>
            <a:srgbClr val="132038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4754880" y="40934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Age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903720" y="40934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B8D4"/>
                </a:solidFill>
              </a:rPr>
              <a:t>Numérique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663440" y="4413504"/>
            <a:ext cx="4114800" cy="301752"/>
          </a:xfrm>
          <a:prstGeom prst="rect">
            <a:avLst/>
          </a:prstGeom>
          <a:solidFill>
            <a:srgbClr val="1A3A5C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4754880" y="444093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</a:rPr>
              <a:t>Outcome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903720" y="44409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B8D4"/>
                </a:solidFill>
              </a:rPr>
              <a:t>Binaire (cible)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Variables Importantes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6400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Impact sur la Prédiction (%)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764792"/>
            <a:ext cx="118872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Glucose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37360" y="1783080"/>
            <a:ext cx="4425696" cy="2834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208776" y="1783080"/>
            <a:ext cx="457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88%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237232"/>
            <a:ext cx="118872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BMI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37360" y="2255520"/>
            <a:ext cx="3771900" cy="28346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554980" y="2255520"/>
            <a:ext cx="457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75%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709672"/>
            <a:ext cx="118872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Insulin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737360" y="2727960"/>
            <a:ext cx="3017520" cy="2834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800600" y="2727960"/>
            <a:ext cx="457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60%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182112"/>
            <a:ext cx="118872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BloodPressure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737360" y="3200400"/>
            <a:ext cx="2514600" cy="2834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297680" y="3200400"/>
            <a:ext cx="457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50%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654552"/>
            <a:ext cx="118872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737360" y="3672840"/>
            <a:ext cx="2263140" cy="283464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046220" y="3672840"/>
            <a:ext cx="457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45%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126992"/>
            <a:ext cx="118872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Pregnancies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737360" y="4145280"/>
            <a:ext cx="1911096" cy="28346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694176" y="4145280"/>
            <a:ext cx="457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38%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83680" y="1280160"/>
            <a:ext cx="2331720" cy="356616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675120" y="135331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Points Clés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75120" y="1810512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BB8D4"/>
                </a:solidFill>
              </a:rPr>
              <a:t>🔹 Glucose : prédicteur #1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675120" y="2496312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BB8D4"/>
                </a:solidFill>
              </a:rPr>
              <a:t>🔹 BMI élevé = risque accru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675120" y="3182112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BB8D4"/>
                </a:solidFill>
              </a:rPr>
              <a:t>🔹 L'âge joue un rôle majeur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675120" y="3867912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BB8D4"/>
                </a:solidFill>
              </a:rPr>
              <a:t>🔹 Insuline souvent nulle → nettoyage requis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 Cleaning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931920" cy="3611880"/>
          </a:xfrm>
          <a:prstGeom prst="rect">
            <a:avLst/>
          </a:prstGeom>
          <a:solidFill>
            <a:srgbClr val="FFF5F5"/>
          </a:solidFill>
          <a:ln w="19050">
            <a:solidFill>
              <a:srgbClr val="FEB2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3E3E"/>
                </a:solidFill>
              </a:rPr>
              <a:t>⚠️  Problème Détecté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Faux zéros biologiquement impossibles 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3566160" cy="411480"/>
          </a:xfrm>
          <a:prstGeom prst="rect">
            <a:avLst/>
          </a:prstGeom>
          <a:solidFill>
            <a:srgbClr val="FED7D7"/>
          </a:solidFill>
          <a:ln w="12700">
            <a:solidFill>
              <a:srgbClr val="FEB2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22585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3E3E"/>
                </a:solidFill>
              </a:rPr>
              <a:t>✗  Glucose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88336"/>
            <a:ext cx="3566160" cy="411480"/>
          </a:xfrm>
          <a:prstGeom prst="rect">
            <a:avLst/>
          </a:prstGeom>
          <a:solidFill>
            <a:srgbClr val="FED7D7"/>
          </a:solidFill>
          <a:ln w="12700">
            <a:solidFill>
              <a:srgbClr val="FEB2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0080" y="273405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3E3E"/>
                </a:solidFill>
              </a:rPr>
              <a:t>✗  BloodPressure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63824"/>
            <a:ext cx="3566160" cy="411480"/>
          </a:xfrm>
          <a:prstGeom prst="rect">
            <a:avLst/>
          </a:prstGeom>
          <a:solidFill>
            <a:srgbClr val="FED7D7"/>
          </a:solidFill>
          <a:ln w="12700">
            <a:solidFill>
              <a:srgbClr val="FEB2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40080" y="320954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3E3E"/>
                </a:solidFill>
              </a:rPr>
              <a:t>✗  SkinThickness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39312"/>
            <a:ext cx="3566160" cy="411480"/>
          </a:xfrm>
          <a:prstGeom prst="rect">
            <a:avLst/>
          </a:prstGeom>
          <a:solidFill>
            <a:srgbClr val="FED7D7"/>
          </a:solidFill>
          <a:ln w="12700">
            <a:solidFill>
              <a:srgbClr val="FEB2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40080" y="368503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3E3E"/>
                </a:solidFill>
              </a:rPr>
              <a:t>✗  Insulin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3566160" cy="411480"/>
          </a:xfrm>
          <a:prstGeom prst="rect">
            <a:avLst/>
          </a:prstGeom>
          <a:solidFill>
            <a:srgbClr val="FED7D7"/>
          </a:solidFill>
          <a:ln w="12700">
            <a:solidFill>
              <a:srgbClr val="FEB2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40080" y="41605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3E3E"/>
                </a:solidFill>
              </a:rPr>
              <a:t>✗  BMI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234440"/>
            <a:ext cx="4206240" cy="3611880"/>
          </a:xfrm>
          <a:prstGeom prst="rect">
            <a:avLst/>
          </a:prstGeom>
          <a:solidFill>
            <a:srgbClr val="F0FFF4"/>
          </a:solidFill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663440" y="129844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8A5E"/>
                </a:solidFill>
              </a:rPr>
              <a:t>✅  Solution Appliquée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17830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Remplacement par la médiane 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2212848"/>
            <a:ext cx="3977640" cy="914400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df[col] = df[col].replace(0, </a:t>
            </a:r>
            <a:r>
              <a:rPr lang="en-US" sz="11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np.nan</a:t>
            </a: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df[col].fillna(df[col].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median()</a:t>
            </a: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32461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8A5E"/>
                </a:solidFill>
              </a:rPr>
              <a:t>Pourquoi la médiane 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363931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→  Robuste aux valeurs extrêmes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63440" y="4032504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→  Préserve la distribution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63440" y="442569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→  Plus stable que la moyenne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Analyse Exploratoire — EDA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148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502920" cy="502920"/>
          </a:xfrm>
          <a:prstGeom prst="ellipse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280160"/>
            <a:ext cx="3246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Countplot Outcome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7830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Distribution des classes : 500 non-diabétiques vs 268 diabétiques (ratio 65/35%)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41148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892040" y="1298448"/>
            <a:ext cx="502920" cy="502920"/>
          </a:xfrm>
          <a:prstGeom prst="ellipse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9204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1280160"/>
            <a:ext cx="3246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Histogramme Glucose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7830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Distribution unimodale, légèrement asymétrique. Valeurs hautes corrélées au diabète.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10896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274320" y="3108960"/>
            <a:ext cx="41148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11480" y="3218688"/>
            <a:ext cx="502920" cy="502920"/>
          </a:xfrm>
          <a:prstGeom prst="ellipse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11480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🟦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200400"/>
            <a:ext cx="3246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Heatmap Corrélation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37033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Glucose (0.47) et BMI (0.29) montrent les plus fortes corrélations avec Outcome.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310896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754880" y="3108960"/>
            <a:ext cx="41148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892040" y="3218688"/>
            <a:ext cx="502920" cy="502920"/>
          </a:xfrm>
          <a:prstGeom prst="ellipse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892040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📦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0" y="3200400"/>
            <a:ext cx="3246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Boxplot BMI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37033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Médiane diabétiques &gt; non-diabétiques. Présence de valeurs extrêmes identifiées.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Préparation des Données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25880" y="984504"/>
            <a:ext cx="640080" cy="6400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325880" y="98450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17520" y="1304544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74320" y="1716024"/>
            <a:ext cx="2743200" cy="2880360"/>
          </a:xfrm>
          <a:prstGeom prst="rect">
            <a:avLst/>
          </a:prstGeom>
          <a:solidFill>
            <a:srgbClr val="0D2137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74320" y="1716024"/>
            <a:ext cx="27432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180746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</a:rPr>
              <a:t>Séparation X / 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292096"/>
            <a:ext cx="2560320" cy="14630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11480" y="2328672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df.drop('Outcome', axis=1)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df['Outcome']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51960" y="984504"/>
            <a:ext cx="640080" cy="64008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251960" y="98450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0" y="1304544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200400" y="1716024"/>
            <a:ext cx="2743200" cy="2880360"/>
          </a:xfrm>
          <a:prstGeom prst="rect">
            <a:avLst/>
          </a:prstGeom>
          <a:solidFill>
            <a:srgbClr val="0D2137"/>
          </a:solidFill>
          <a:ln w="1905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200400" y="1716024"/>
            <a:ext cx="2743200" cy="6400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291840" y="180746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96C7"/>
                </a:solidFill>
              </a:rPr>
              <a:t>Train / Test Split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2292096"/>
            <a:ext cx="2560320" cy="14630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337560" y="2328672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train_test_split(X, y, test_size=0.2)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78040" y="984504"/>
            <a:ext cx="640080" cy="64008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7178040" y="98450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26480" y="1716024"/>
            <a:ext cx="2743200" cy="2880360"/>
          </a:xfrm>
          <a:prstGeom prst="rect">
            <a:avLst/>
          </a:prstGeom>
          <a:solidFill>
            <a:srgbClr val="0D2137"/>
          </a:solidFill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6126480" y="1716024"/>
            <a:ext cx="274320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217920" y="180746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AA"/>
                </a:solidFill>
              </a:rPr>
              <a:t>StandardScaler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2292096"/>
            <a:ext cx="2560320" cy="14630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263640" y="2328672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StandardScaler()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 = scaler.fit_transform(X_train)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4642104"/>
            <a:ext cx="8412480" cy="4114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57200" y="46695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B8D4"/>
                </a:solidFill>
              </a:rPr>
              <a:t>💡  StandardScaler : Centre (μ=0) et réduit (σ=1) les features pour un apprentissage plus rapide et équitable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Résultats &amp; Évaluation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768" y="1108880"/>
            <a:ext cx="1920240" cy="1897380"/>
          </a:xfrm>
          <a:prstGeom prst="ellipse">
            <a:avLst/>
          </a:prstGeom>
          <a:solidFill>
            <a:srgbClr val="0A1628"/>
          </a:solidFill>
          <a:ln w="381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-147707" y="1222841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</a:rPr>
              <a:t>~75%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-175468" y="2102951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B8D4"/>
                </a:solidFill>
              </a:rPr>
              <a:t>Accuracy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80620" y="1267725"/>
            <a:ext cx="1405131" cy="855846"/>
          </a:xfrm>
          <a:prstGeom prst="rect">
            <a:avLst/>
          </a:prstGeom>
          <a:solidFill>
            <a:srgbClr val="F1F5F9"/>
          </a:solidFill>
          <a:ln w="254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980620" y="1295157"/>
            <a:ext cx="1405131" cy="5057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565C0"/>
                </a:solidFill>
              </a:rPr>
              <a:t>74%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980620" y="1862085"/>
            <a:ext cx="1405131" cy="295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Precision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90876" y="2235786"/>
            <a:ext cx="1405131" cy="855846"/>
          </a:xfrm>
          <a:prstGeom prst="rect">
            <a:avLst/>
          </a:prstGeom>
          <a:solidFill>
            <a:srgbClr val="F1F5F9"/>
          </a:solidFill>
          <a:ln w="254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990876" y="2378280"/>
            <a:ext cx="1405131" cy="5057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96C7"/>
                </a:solidFill>
              </a:rPr>
              <a:t>71%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948204" y="2811859"/>
            <a:ext cx="1405131" cy="295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Recall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89992" y="1800884"/>
            <a:ext cx="1405131" cy="855846"/>
          </a:xfrm>
          <a:prstGeom prst="rect">
            <a:avLst/>
          </a:prstGeom>
          <a:solidFill>
            <a:srgbClr val="F1F5F9"/>
          </a:solidFill>
          <a:ln w="254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489992" y="1828316"/>
            <a:ext cx="1405131" cy="5057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</a:rPr>
              <a:t>72%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489992" y="2395244"/>
            <a:ext cx="1405131" cy="295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F1-Score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282527"/>
            <a:ext cx="4023360" cy="1586484"/>
          </a:xfrm>
          <a:prstGeom prst="rect">
            <a:avLst/>
          </a:prstGeom>
          <a:solidFill>
            <a:srgbClr val="F1F5F9"/>
          </a:solidFill>
          <a:ln w="12700">
            <a:solidFill>
              <a:srgbClr val="DCE8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11480" y="3287099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Confusion Matrix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666575"/>
            <a:ext cx="1554480" cy="548640"/>
          </a:xfrm>
          <a:prstGeom prst="rect">
            <a:avLst/>
          </a:prstGeom>
          <a:solidFill>
            <a:srgbClr val="E6F4EA"/>
          </a:solidFill>
          <a:ln w="12700">
            <a:solidFill>
              <a:srgbClr val="DCE8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40080" y="3666575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8A5E"/>
                </a:solidFill>
              </a:rPr>
              <a:t>VP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D8A5E"/>
                </a:solidFill>
              </a:rPr>
              <a:t>87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331720" y="3666575"/>
            <a:ext cx="1554480" cy="548640"/>
          </a:xfrm>
          <a:prstGeom prst="rect">
            <a:avLst/>
          </a:prstGeom>
          <a:solidFill>
            <a:srgbClr val="FFF0F0"/>
          </a:solidFill>
          <a:ln w="12700">
            <a:solidFill>
              <a:srgbClr val="DCE8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331720" y="3666575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3E3E"/>
                </a:solidFill>
              </a:rPr>
              <a:t>FN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53E3E"/>
                </a:solidFill>
              </a:rPr>
              <a:t>12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270079"/>
            <a:ext cx="1554480" cy="548640"/>
          </a:xfrm>
          <a:prstGeom prst="rect">
            <a:avLst/>
          </a:prstGeom>
          <a:solidFill>
            <a:srgbClr val="FFF0F0"/>
          </a:solidFill>
          <a:ln w="12700">
            <a:solidFill>
              <a:srgbClr val="DCE8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40080" y="4270079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3E3E"/>
                </a:solidFill>
              </a:rPr>
              <a:t>FP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53E3E"/>
                </a:solidFill>
              </a:rPr>
              <a:t>26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331720" y="4270079"/>
            <a:ext cx="1554480" cy="548640"/>
          </a:xfrm>
          <a:prstGeom prst="rect">
            <a:avLst/>
          </a:prstGeom>
          <a:solidFill>
            <a:srgbClr val="E6F4EA"/>
          </a:solidFill>
          <a:ln w="12700">
            <a:solidFill>
              <a:srgbClr val="DCE8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2331720" y="4270079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8A5E"/>
                </a:solidFill>
              </a:rPr>
              <a:t>VN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D8A5E"/>
                </a:solidFill>
              </a:rPr>
              <a:t>29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9817" y="1206839"/>
            <a:ext cx="4112744" cy="3575304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029202" y="1279991"/>
            <a:ext cx="39358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Classification Report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94268" y="1718903"/>
            <a:ext cx="928684" cy="384048"/>
          </a:xfrm>
          <a:prstGeom prst="rect">
            <a:avLst/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Classe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81820" y="1718903"/>
            <a:ext cx="928684" cy="384048"/>
          </a:xfrm>
          <a:prstGeom prst="rect">
            <a:avLst/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Precision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69372" y="1718903"/>
            <a:ext cx="928684" cy="384048"/>
          </a:xfrm>
          <a:prstGeom prst="rect">
            <a:avLst/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Recall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966068" y="1718903"/>
            <a:ext cx="928684" cy="384048"/>
          </a:xfrm>
          <a:prstGeom prst="rect">
            <a:avLst/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F1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94268" y="2176103"/>
            <a:ext cx="928684" cy="384048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0 (Neg)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81820" y="2176103"/>
            <a:ext cx="928684" cy="384048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77%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69372" y="2176103"/>
            <a:ext cx="928684" cy="384048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88%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956924" y="2176103"/>
            <a:ext cx="928684" cy="384048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82%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94268" y="2633303"/>
            <a:ext cx="928684" cy="384048"/>
          </a:xfrm>
          <a:prstGeom prst="rect">
            <a:avLst/>
          </a:prstGeom>
          <a:solidFill>
            <a:srgbClr val="13203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 (Pos)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81820" y="2633303"/>
            <a:ext cx="928684" cy="384048"/>
          </a:xfrm>
          <a:prstGeom prst="rect">
            <a:avLst/>
          </a:prstGeom>
          <a:solidFill>
            <a:srgbClr val="13203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71%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69372" y="2633303"/>
            <a:ext cx="928684" cy="384048"/>
          </a:xfrm>
          <a:prstGeom prst="rect">
            <a:avLst/>
          </a:prstGeom>
          <a:solidFill>
            <a:srgbClr val="13203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53%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956924" y="2633303"/>
            <a:ext cx="928684" cy="384048"/>
          </a:xfrm>
          <a:prstGeom prst="rect">
            <a:avLst/>
          </a:prstGeom>
          <a:solidFill>
            <a:srgbClr val="13203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60%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94268" y="3090503"/>
            <a:ext cx="928684" cy="384048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Moyenne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981820" y="3090503"/>
            <a:ext cx="928684" cy="384048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75%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69372" y="3090503"/>
            <a:ext cx="928684" cy="384048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74%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956924" y="3090503"/>
            <a:ext cx="928684" cy="384048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71%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29202" y="3611711"/>
            <a:ext cx="39358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B8D4"/>
                </a:solidFill>
              </a:rPr>
              <a:t>✅  Résultat satisfaisant pour un modèle de base. Amélioration possible avec SMOTE ou ensemble methods.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828800" y="274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1005840"/>
            <a:ext cx="27432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Ce projet démontre la puissance de la</a:t>
            </a:r>
            <a:endParaRPr lang="en-US" sz="16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Science des Données dans le domaine médical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331720"/>
            <a:ext cx="22860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</a:rPr>
              <a:t>✓  Data Cleaning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2331720"/>
            <a:ext cx="22860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566160" y="23317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</a:rPr>
              <a:t>✓  EDA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2331720"/>
            <a:ext cx="22860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126480" y="23317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</a:rPr>
              <a:t>✓  StandardScaler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2990088"/>
            <a:ext cx="22860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1005840" y="299008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</a:rPr>
              <a:t>✓  Train/Test Split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0" y="2990088"/>
            <a:ext cx="22860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566160" y="299008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</a:rPr>
              <a:t>✓  Classification Report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2990088"/>
            <a:ext cx="22860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126480" y="299008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</a:rPr>
              <a:t>✓  Accuracy 75%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00D4AA"/>
                </a:solidFill>
              </a:rPr>
              <a:t>Des données bien préparées permettent une meilleure prédiction.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286000" y="4663440"/>
            <a:ext cx="457200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286000" y="46634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B8D4"/>
                </a:solidFill>
              </a:rPr>
              <a:t>Yassine Rachid  •  Jassir Matallah  •  2025/2026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1150</Words>
  <Application>Microsoft Office PowerPoint</Application>
  <PresentationFormat>On-screen Show (16:9)</PresentationFormat>
  <Paragraphs>346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Système Intelligent de Prédiction du Diabète - Data Science</dc:title>
  <dc:subject>PptxGenJS Presentation</dc:subject>
  <dc:creator>PptxGenJS</dc:creator>
  <cp:lastModifiedBy>yassine rachid</cp:lastModifiedBy>
  <cp:revision>4</cp:revision>
  <dcterms:created xsi:type="dcterms:W3CDTF">2026-05-17T13:14:36Z</dcterms:created>
  <dcterms:modified xsi:type="dcterms:W3CDTF">2026-05-17T20:34:32Z</dcterms:modified>
</cp:coreProperties>
</file>