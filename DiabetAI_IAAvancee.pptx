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47874" autoAdjust="0"/>
  </p:normalViewPr>
  <p:slideViewPr>
    <p:cSldViewPr snapToGrid="0" snapToObjects="1">
      <p:cViewPr varScale="1">
        <p:scale>
          <a:sx n="56" d="100"/>
          <a:sy n="56" d="100"/>
        </p:scale>
        <p:origin x="2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E293B"/>
                </a:solidFill>
                <a:latin typeface="Arial"/>
              </a:rPr>
              <a:t>Accuracy par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0.63</c:v>
                </c:pt>
                <c:pt idx="1">
                  <c:v>0.67</c:v>
                </c:pt>
                <c:pt idx="2">
                  <c:v>0.7</c:v>
                </c:pt>
                <c:pt idx="3">
                  <c:v>0.72</c:v>
                </c:pt>
                <c:pt idx="4">
                  <c:v>0.73</c:v>
                </c:pt>
                <c:pt idx="5">
                  <c:v>0.74</c:v>
                </c:pt>
                <c:pt idx="6">
                  <c:v>0.74</c:v>
                </c:pt>
                <c:pt idx="7">
                  <c:v>0.75</c:v>
                </c:pt>
                <c:pt idx="8">
                  <c:v>0.75</c:v>
                </c:pt>
                <c:pt idx="9">
                  <c:v>0.76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5C0-4886-8E06-F75A60EC75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ln w="3175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0.6</c:v>
                </c:pt>
                <c:pt idx="1">
                  <c:v>0.64</c:v>
                </c:pt>
                <c:pt idx="2">
                  <c:v>0.67</c:v>
                </c:pt>
                <c:pt idx="3">
                  <c:v>0.69</c:v>
                </c:pt>
                <c:pt idx="4">
                  <c:v>0.71</c:v>
                </c:pt>
                <c:pt idx="5">
                  <c:v>0.72</c:v>
                </c:pt>
                <c:pt idx="6">
                  <c:v>0.73</c:v>
                </c:pt>
                <c:pt idx="7">
                  <c:v>0.74</c:v>
                </c:pt>
                <c:pt idx="8">
                  <c:v>0.74</c:v>
                </c:pt>
                <c:pt idx="9">
                  <c:v>0.75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5C0-4886-8E06-F75A60EC7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924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 à tous.</a:t>
            </a:r>
          </a:p>
          <a:p>
            <a:endParaRPr lang="fr-FR" dirty="0"/>
          </a:p>
          <a:p>
            <a:r>
              <a:rPr lang="fr-FR" dirty="0"/>
              <a:t>Aujourd’hui, nous allons présenter notre projet intitulé</a:t>
            </a:r>
          </a:p>
          <a:p>
            <a:r>
              <a:rPr lang="fr-FR" dirty="0"/>
              <a:t>Système Intelligent de Prédiction du Diabète.</a:t>
            </a:r>
          </a:p>
          <a:p>
            <a:endParaRPr lang="fr-FR" dirty="0"/>
          </a:p>
          <a:p>
            <a:r>
              <a:rPr lang="fr-FR" dirty="0"/>
              <a:t>L’objectif principal est de prédire automatiquement</a:t>
            </a:r>
          </a:p>
          <a:p>
            <a:r>
              <a:rPr lang="fr-FR" dirty="0"/>
              <a:t>le risque de diabète chez un patient</a:t>
            </a:r>
          </a:p>
          <a:p>
            <a:r>
              <a:rPr lang="fr-FR" dirty="0"/>
              <a:t>à partir de données médicales simples</a:t>
            </a:r>
          </a:p>
          <a:p>
            <a:r>
              <a:rPr lang="fr-FR" dirty="0"/>
              <a:t>en utilisant un réseau de neurones artificiel,</a:t>
            </a:r>
          </a:p>
          <a:p>
            <a:r>
              <a:rPr lang="fr-FR" dirty="0"/>
              <a:t>appelé ANN.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choisi le modèle ANN,</a:t>
            </a:r>
          </a:p>
          <a:p>
            <a:r>
              <a:rPr lang="fr-FR" dirty="0"/>
              <a:t>car il est très performant pour les problèmes</a:t>
            </a:r>
          </a:p>
          <a:p>
            <a:r>
              <a:rPr lang="fr-FR" dirty="0"/>
              <a:t>de classification complexes.</a:t>
            </a:r>
          </a:p>
          <a:p>
            <a:endParaRPr lang="fr-FR" dirty="0"/>
          </a:p>
          <a:p>
            <a:r>
              <a:rPr lang="fr-FR" dirty="0"/>
              <a:t>Le diabète dépend de plusieurs facteurs médicaux</a:t>
            </a:r>
          </a:p>
          <a:p>
            <a:r>
              <a:rPr lang="fr-FR" dirty="0"/>
              <a:t>comme le glucose, le BMI et l’âge.</a:t>
            </a:r>
          </a:p>
          <a:p>
            <a:endParaRPr lang="fr-FR" dirty="0"/>
          </a:p>
          <a:p>
            <a:r>
              <a:rPr lang="fr-FR" dirty="0"/>
              <a:t>ANN permet d’apprendre les relations complexes</a:t>
            </a:r>
          </a:p>
          <a:p>
            <a:r>
              <a:rPr lang="fr-FR" dirty="0"/>
              <a:t>entre ces variables,</a:t>
            </a:r>
          </a:p>
          <a:p>
            <a:r>
              <a:rPr lang="fr-FR" dirty="0"/>
              <a:t>mieux que certains modèles classiques.</a:t>
            </a:r>
          </a:p>
          <a:p>
            <a:endParaRPr lang="fr-FR" dirty="0"/>
          </a:p>
          <a:p>
            <a:r>
              <a:rPr lang="fr-FR" dirty="0"/>
              <a:t>C’est pour cela que nous avons choisi</a:t>
            </a:r>
          </a:p>
          <a:p>
            <a:r>
              <a:rPr lang="fr-FR" dirty="0"/>
              <a:t>ce modèle pour notre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Notre modèle contient 3 parties principales.</a:t>
            </a:r>
          </a:p>
          <a:p>
            <a:endParaRPr lang="fr-FR" dirty="0"/>
          </a:p>
          <a:p>
            <a:r>
              <a:rPr lang="fr-FR" dirty="0"/>
              <a:t>La première est la couche d’entrée</a:t>
            </a:r>
          </a:p>
          <a:p>
            <a:r>
              <a:rPr lang="fr-FR" dirty="0"/>
              <a:t>qui reçoit les 8 variables médicales.</a:t>
            </a:r>
          </a:p>
          <a:p>
            <a:endParaRPr lang="fr-FR" dirty="0"/>
          </a:p>
          <a:p>
            <a:r>
              <a:rPr lang="fr-FR" dirty="0"/>
              <a:t>Ensuite, nous avons deux couches cachées :</a:t>
            </a:r>
          </a:p>
          <a:p>
            <a:endParaRPr lang="fr-FR" dirty="0"/>
          </a:p>
          <a:p>
            <a:r>
              <a:rPr lang="fr-FR" dirty="0"/>
              <a:t>la première avec 32 neurones</a:t>
            </a:r>
          </a:p>
          <a:p>
            <a:endParaRPr lang="fr-FR" dirty="0"/>
          </a:p>
          <a:p>
            <a:r>
              <a:rPr lang="fr-FR" dirty="0"/>
              <a:t>et la deuxième avec 16 neurones.</a:t>
            </a:r>
          </a:p>
          <a:p>
            <a:endParaRPr lang="fr-FR" dirty="0"/>
          </a:p>
          <a:p>
            <a:r>
              <a:rPr lang="fr-FR" dirty="0"/>
              <a:t>Enfin, la couche de sortie contient</a:t>
            </a:r>
          </a:p>
          <a:p>
            <a:r>
              <a:rPr lang="fr-FR" dirty="0"/>
              <a:t>un seul neurone</a:t>
            </a:r>
          </a:p>
          <a:p>
            <a:r>
              <a:rPr lang="fr-FR" dirty="0"/>
              <a:t>qui donne le résultat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utilisé deux fonctions d’activation.</a:t>
            </a:r>
          </a:p>
          <a:p>
            <a:endParaRPr lang="fr-FR" dirty="0"/>
          </a:p>
          <a:p>
            <a:r>
              <a:rPr lang="fr-FR" dirty="0"/>
              <a:t>La première est </a:t>
            </a:r>
            <a:r>
              <a:rPr lang="fr-FR" dirty="0" err="1"/>
              <a:t>ReLU</a:t>
            </a:r>
            <a:endParaRPr lang="fr-FR" dirty="0"/>
          </a:p>
          <a:p>
            <a:r>
              <a:rPr lang="fr-FR" dirty="0"/>
              <a:t>dans les couches cachées.</a:t>
            </a:r>
          </a:p>
          <a:p>
            <a:endParaRPr lang="fr-FR" dirty="0"/>
          </a:p>
          <a:p>
            <a:r>
              <a:rPr lang="fr-FR" dirty="0"/>
              <a:t>Elle permet au modèle</a:t>
            </a:r>
          </a:p>
          <a:p>
            <a:r>
              <a:rPr lang="fr-FR" dirty="0"/>
              <a:t>d’apprendre plus rapidement.</a:t>
            </a:r>
          </a:p>
          <a:p>
            <a:endParaRPr lang="fr-FR" dirty="0"/>
          </a:p>
          <a:p>
            <a:r>
              <a:rPr lang="fr-FR" dirty="0"/>
              <a:t>La deuxième est </a:t>
            </a:r>
            <a:r>
              <a:rPr lang="fr-FR" dirty="0" err="1"/>
              <a:t>Sigmoid</a:t>
            </a:r>
            <a:endParaRPr lang="fr-FR" dirty="0"/>
          </a:p>
          <a:p>
            <a:r>
              <a:rPr lang="fr-FR" dirty="0"/>
              <a:t>dans la couche de sortie.</a:t>
            </a:r>
          </a:p>
          <a:p>
            <a:endParaRPr lang="fr-FR" dirty="0"/>
          </a:p>
          <a:p>
            <a:r>
              <a:rPr lang="fr-FR" dirty="0"/>
              <a:t>Elle donne un résultat entre 0 et 1,</a:t>
            </a:r>
          </a:p>
          <a:p>
            <a:r>
              <a:rPr lang="fr-FR" dirty="0"/>
              <a:t>qui représente la probabilité de diabète.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compiler le modèle,</a:t>
            </a:r>
          </a:p>
          <a:p>
            <a:r>
              <a:rPr lang="fr-FR" dirty="0"/>
              <a:t>nous avons utilisé Adam</a:t>
            </a:r>
          </a:p>
          <a:p>
            <a:r>
              <a:rPr lang="fr-FR" dirty="0"/>
              <a:t>comme optimiseur.</a:t>
            </a:r>
          </a:p>
          <a:p>
            <a:endParaRPr lang="fr-FR" dirty="0"/>
          </a:p>
          <a:p>
            <a:r>
              <a:rPr lang="fr-FR" dirty="0"/>
              <a:t>Adam permet un apprentissage rapide</a:t>
            </a:r>
          </a:p>
          <a:p>
            <a:r>
              <a:rPr lang="fr-FR" dirty="0"/>
              <a:t>et stable.</a:t>
            </a:r>
          </a:p>
          <a:p>
            <a:endParaRPr lang="fr-FR" dirty="0"/>
          </a:p>
          <a:p>
            <a:r>
              <a:rPr lang="fr-FR" dirty="0"/>
              <a:t>Nous avons utilisé aussi</a:t>
            </a:r>
          </a:p>
          <a:p>
            <a:r>
              <a:rPr lang="fr-FR" dirty="0" err="1"/>
              <a:t>Binary</a:t>
            </a:r>
            <a:r>
              <a:rPr lang="fr-FR" dirty="0"/>
              <a:t> </a:t>
            </a:r>
            <a:r>
              <a:rPr lang="fr-FR" dirty="0" err="1"/>
              <a:t>Crossentropy</a:t>
            </a:r>
            <a:endParaRPr lang="fr-FR" dirty="0"/>
          </a:p>
          <a:p>
            <a:r>
              <a:rPr lang="fr-FR" dirty="0"/>
              <a:t>comme fonction de perte,</a:t>
            </a:r>
          </a:p>
          <a:p>
            <a:r>
              <a:rPr lang="fr-FR" dirty="0"/>
              <a:t>car notre problème est une</a:t>
            </a:r>
          </a:p>
          <a:p>
            <a:r>
              <a:rPr lang="fr-FR" dirty="0"/>
              <a:t>classification binaire :</a:t>
            </a:r>
          </a:p>
          <a:p>
            <a:endParaRPr lang="fr-FR" dirty="0"/>
          </a:p>
          <a:p>
            <a:r>
              <a:rPr lang="fr-FR" dirty="0"/>
              <a:t>diabétique ou non diabétique.</a:t>
            </a:r>
          </a:p>
          <a:p>
            <a:endParaRPr lang="fr-FR" dirty="0"/>
          </a:p>
          <a:p>
            <a:r>
              <a:rPr lang="fr-FR" dirty="0"/>
              <a:t>Enfin, nous utilisons </a:t>
            </a:r>
            <a:r>
              <a:rPr lang="fr-FR" dirty="0" err="1"/>
              <a:t>Accuracy</a:t>
            </a:r>
            <a:endParaRPr lang="fr-FR" dirty="0"/>
          </a:p>
          <a:p>
            <a:r>
              <a:rPr lang="fr-FR" dirty="0"/>
              <a:t>pour mesurer la précision du modèle.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modèle a été entraîné</a:t>
            </a:r>
          </a:p>
          <a:p>
            <a:r>
              <a:rPr lang="fr-FR" dirty="0"/>
              <a:t>avec 10 </a:t>
            </a:r>
            <a:r>
              <a:rPr lang="fr-FR" dirty="0" err="1"/>
              <a:t>epochs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Cela signifie que le modèle</a:t>
            </a:r>
          </a:p>
          <a:p>
            <a:r>
              <a:rPr lang="fr-FR" dirty="0"/>
              <a:t>passe 10 fois sur les données.</a:t>
            </a:r>
          </a:p>
          <a:p>
            <a:endParaRPr lang="fr-FR" dirty="0"/>
          </a:p>
          <a:p>
            <a:r>
              <a:rPr lang="fr-FR" dirty="0"/>
              <a:t>Le batch size est 32,</a:t>
            </a:r>
          </a:p>
          <a:p>
            <a:r>
              <a:rPr lang="fr-FR" dirty="0"/>
              <a:t>donc les données sont traitées</a:t>
            </a:r>
          </a:p>
          <a:p>
            <a:r>
              <a:rPr lang="fr-FR" dirty="0"/>
              <a:t>par petits groupes.</a:t>
            </a:r>
          </a:p>
          <a:p>
            <a:endParaRPr lang="fr-FR" dirty="0"/>
          </a:p>
          <a:p>
            <a:r>
              <a:rPr lang="fr-FR" dirty="0"/>
              <a:t>Nous avons aussi utilisé</a:t>
            </a:r>
          </a:p>
          <a:p>
            <a:r>
              <a:rPr lang="fr-FR" dirty="0"/>
              <a:t>20 pour cent pour la validation</a:t>
            </a:r>
          </a:p>
          <a:p>
            <a:r>
              <a:rPr lang="fr-FR" dirty="0"/>
              <a:t>afin de vérifier la qualité du modèle.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Après l’entraînement,</a:t>
            </a:r>
          </a:p>
          <a:p>
            <a:r>
              <a:rPr lang="fr-FR" dirty="0"/>
              <a:t>le modèle a obtenu</a:t>
            </a:r>
          </a:p>
          <a:p>
            <a:r>
              <a:rPr lang="fr-FR" dirty="0"/>
              <a:t>une </a:t>
            </a:r>
            <a:r>
              <a:rPr lang="fr-FR" dirty="0" err="1"/>
              <a:t>accuracy</a:t>
            </a:r>
            <a:r>
              <a:rPr lang="fr-FR" dirty="0"/>
              <a:t> d’environ 75 pour cent.</a:t>
            </a:r>
          </a:p>
          <a:p>
            <a:endParaRPr lang="fr-FR" dirty="0"/>
          </a:p>
          <a:p>
            <a:r>
              <a:rPr lang="fr-FR" dirty="0"/>
              <a:t>C’est un bon résultat</a:t>
            </a:r>
          </a:p>
          <a:p>
            <a:r>
              <a:rPr lang="fr-FR" dirty="0"/>
              <a:t>pour un problème médical réel.</a:t>
            </a:r>
          </a:p>
          <a:p>
            <a:endParaRPr lang="fr-FR" dirty="0"/>
          </a:p>
          <a:p>
            <a:r>
              <a:rPr lang="fr-FR" dirty="0"/>
              <a:t>Nous avons aussi observé</a:t>
            </a:r>
          </a:p>
          <a:p>
            <a:r>
              <a:rPr lang="fr-FR" dirty="0"/>
              <a:t>que l’</a:t>
            </a:r>
            <a:r>
              <a:rPr lang="fr-FR" dirty="0" err="1"/>
              <a:t>accuracy</a:t>
            </a:r>
            <a:r>
              <a:rPr lang="fr-FR" dirty="0"/>
              <a:t> augmente progressivement</a:t>
            </a:r>
          </a:p>
          <a:p>
            <a:r>
              <a:rPr lang="fr-FR" dirty="0"/>
              <a:t>à chaque </a:t>
            </a:r>
            <a:r>
              <a:rPr lang="fr-FR" dirty="0" err="1"/>
              <a:t>epoch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En même temps,</a:t>
            </a:r>
          </a:p>
          <a:p>
            <a:r>
              <a:rPr lang="fr-FR" dirty="0"/>
              <a:t>la </a:t>
            </a:r>
            <a:r>
              <a:rPr lang="fr-FR" dirty="0" err="1"/>
              <a:t>loss</a:t>
            </a:r>
            <a:r>
              <a:rPr lang="fr-FR" dirty="0"/>
              <a:t> diminue régulièrement.</a:t>
            </a:r>
          </a:p>
          <a:p>
            <a:endParaRPr lang="fr-FR" dirty="0"/>
          </a:p>
          <a:p>
            <a:r>
              <a:rPr lang="fr-FR" dirty="0"/>
              <a:t>Cela montre que le modèle</a:t>
            </a:r>
          </a:p>
          <a:p>
            <a:r>
              <a:rPr lang="fr-FR" dirty="0"/>
              <a:t>apprend correctement</a:t>
            </a:r>
          </a:p>
          <a:p>
            <a:r>
              <a:rPr lang="fr-FR" dirty="0"/>
              <a:t>et converge de manière stable,</a:t>
            </a:r>
          </a:p>
          <a:p>
            <a:r>
              <a:rPr lang="fr-FR" dirty="0"/>
              <a:t>sans problème de sur-apprentissage.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ajouté</a:t>
            </a:r>
          </a:p>
          <a:p>
            <a:r>
              <a:rPr lang="fr-FR" dirty="0"/>
              <a:t>une couche de décision importante.</a:t>
            </a:r>
          </a:p>
          <a:p>
            <a:endParaRPr lang="fr-FR" dirty="0"/>
          </a:p>
          <a:p>
            <a:r>
              <a:rPr lang="fr-FR" dirty="0"/>
              <a:t>Le système ne dit pas seulement</a:t>
            </a:r>
          </a:p>
          <a:p>
            <a:r>
              <a:rPr lang="fr-FR" dirty="0"/>
              <a:t>si le patient est diabétique ou non.</a:t>
            </a:r>
          </a:p>
          <a:p>
            <a:endParaRPr lang="fr-FR" dirty="0"/>
          </a:p>
          <a:p>
            <a:r>
              <a:rPr lang="fr-FR" dirty="0"/>
              <a:t>Il classe aussi le risque en :</a:t>
            </a:r>
          </a:p>
          <a:p>
            <a:endParaRPr lang="fr-FR" dirty="0"/>
          </a:p>
          <a:p>
            <a:r>
              <a:rPr lang="fr-FR" dirty="0"/>
              <a:t>faible risque</a:t>
            </a:r>
          </a:p>
          <a:p>
            <a:endParaRPr lang="fr-FR" dirty="0"/>
          </a:p>
          <a:p>
            <a:r>
              <a:rPr lang="fr-FR" dirty="0"/>
              <a:t>risque modéré</a:t>
            </a:r>
          </a:p>
          <a:p>
            <a:endParaRPr lang="fr-FR" dirty="0"/>
          </a:p>
          <a:p>
            <a:r>
              <a:rPr lang="fr-FR" dirty="0"/>
              <a:t>ou risque élevé.</a:t>
            </a:r>
          </a:p>
          <a:p>
            <a:endParaRPr lang="fr-FR" dirty="0"/>
          </a:p>
          <a:p>
            <a:r>
              <a:rPr lang="fr-FR" dirty="0"/>
              <a:t>Et pour chaque niveau,</a:t>
            </a:r>
          </a:p>
          <a:p>
            <a:r>
              <a:rPr lang="fr-FR" dirty="0"/>
              <a:t>il propose une recommandation médicale.</a:t>
            </a:r>
          </a:p>
          <a:p>
            <a:endParaRPr lang="fr-FR" dirty="0"/>
          </a:p>
          <a:p>
            <a:r>
              <a:rPr lang="fr-FR" dirty="0"/>
              <a:t>Cela transforme la prédiction</a:t>
            </a:r>
          </a:p>
          <a:p>
            <a:r>
              <a:rPr lang="fr-FR" dirty="0"/>
              <a:t>en vraie aide à la décision.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conclure,</a:t>
            </a:r>
          </a:p>
          <a:p>
            <a:r>
              <a:rPr lang="fr-FR" dirty="0"/>
              <a:t>ce projet montre que</a:t>
            </a:r>
          </a:p>
          <a:p>
            <a:r>
              <a:rPr lang="fr-FR" dirty="0"/>
              <a:t>l’intelligence artificielle</a:t>
            </a:r>
          </a:p>
          <a:p>
            <a:r>
              <a:rPr lang="fr-FR" dirty="0"/>
              <a:t>peut aider dans le domaine médical.</a:t>
            </a:r>
          </a:p>
          <a:p>
            <a:endParaRPr lang="fr-FR" dirty="0"/>
          </a:p>
          <a:p>
            <a:r>
              <a:rPr lang="fr-FR" dirty="0"/>
              <a:t>Grâce au modèle ANN,</a:t>
            </a:r>
          </a:p>
          <a:p>
            <a:r>
              <a:rPr lang="fr-FR" dirty="0"/>
              <a:t>nous pouvons prédire le risque</a:t>
            </a:r>
          </a:p>
          <a:p>
            <a:r>
              <a:rPr lang="fr-FR" dirty="0"/>
              <a:t>de diabète de manière fiable.</a:t>
            </a:r>
          </a:p>
          <a:p>
            <a:endParaRPr lang="fr-FR" dirty="0"/>
          </a:p>
          <a:p>
            <a:r>
              <a:rPr lang="fr-FR" dirty="0"/>
              <a:t>Ce système peut aider</a:t>
            </a:r>
          </a:p>
          <a:p>
            <a:r>
              <a:rPr lang="fr-FR" dirty="0"/>
              <a:t>les médecins à prendre</a:t>
            </a:r>
          </a:p>
          <a:p>
            <a:r>
              <a:rPr lang="fr-FR" dirty="0"/>
              <a:t>de meilleures décisions</a:t>
            </a:r>
          </a:p>
          <a:p>
            <a:r>
              <a:rPr lang="fr-FR" dirty="0"/>
              <a:t>plus rapidement.</a:t>
            </a:r>
          </a:p>
          <a:p>
            <a:endParaRPr lang="fr-FR" dirty="0"/>
          </a:p>
          <a:p>
            <a:r>
              <a:rPr lang="fr-FR" dirty="0"/>
              <a:t>Merci pour votre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315200" y="182880"/>
            <a:ext cx="1645920" cy="1645920"/>
          </a:xfrm>
          <a:prstGeom prst="ellipse">
            <a:avLst/>
          </a:prstGeom>
          <a:solidFill>
            <a:srgbClr val="14215C"/>
          </a:solidFill>
          <a:ln w="12700">
            <a:solidFill>
              <a:srgbClr val="3B4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046720" y="1371600"/>
            <a:ext cx="1097280" cy="1097280"/>
          </a:xfrm>
          <a:prstGeom prst="ellipse">
            <a:avLst/>
          </a:prstGeom>
          <a:solidFill>
            <a:srgbClr val="1A2A6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0" y="1097280"/>
            <a:ext cx="731520" cy="731520"/>
          </a:xfrm>
          <a:prstGeom prst="ellipse">
            <a:avLst/>
          </a:prstGeom>
          <a:solidFill>
            <a:srgbClr val="1A2A6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27432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5B21B6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274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🧠  Intelligence Artificielle Avancée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Diabète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par Réseau de Neurones Artificiel (ANN)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12801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291072" y="1376172"/>
            <a:ext cx="219456" cy="219456"/>
          </a:xfrm>
          <a:prstGeom prst="ellipse">
            <a:avLst/>
          </a:prstGeom>
          <a:solidFill>
            <a:srgbClr val="0891B2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91072" y="2153412"/>
            <a:ext cx="219456" cy="219456"/>
          </a:xfrm>
          <a:prstGeom prst="ellipse">
            <a:avLst/>
          </a:prstGeom>
          <a:solidFill>
            <a:srgbClr val="0891B2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291072" y="2930652"/>
            <a:ext cx="219456" cy="219456"/>
          </a:xfrm>
          <a:prstGeom prst="ellipse">
            <a:avLst/>
          </a:prstGeom>
          <a:solidFill>
            <a:srgbClr val="0891B2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205472" y="987552"/>
            <a:ext cx="219456" cy="219456"/>
          </a:xfrm>
          <a:prstGeom prst="ellipse">
            <a:avLst/>
          </a:prstGeom>
          <a:solidFill>
            <a:srgbClr val="5B21B6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205472" y="1764792"/>
            <a:ext cx="219456" cy="219456"/>
          </a:xfrm>
          <a:prstGeom prst="ellipse">
            <a:avLst/>
          </a:prstGeom>
          <a:solidFill>
            <a:srgbClr val="5B21B6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205472" y="2542032"/>
            <a:ext cx="219456" cy="219456"/>
          </a:xfrm>
          <a:prstGeom prst="ellipse">
            <a:avLst/>
          </a:prstGeom>
          <a:solidFill>
            <a:srgbClr val="5B21B6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205472" y="3319272"/>
            <a:ext cx="219456" cy="219456"/>
          </a:xfrm>
          <a:prstGeom prst="ellipse">
            <a:avLst/>
          </a:prstGeom>
          <a:solidFill>
            <a:srgbClr val="5B21B6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028432" y="1376172"/>
            <a:ext cx="219456" cy="219456"/>
          </a:xfrm>
          <a:prstGeom prst="ellipse">
            <a:avLst/>
          </a:prstGeom>
          <a:solidFill>
            <a:srgbClr val="5B21B6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028432" y="2153412"/>
            <a:ext cx="219456" cy="219456"/>
          </a:xfrm>
          <a:prstGeom prst="ellipse">
            <a:avLst/>
          </a:prstGeom>
          <a:solidFill>
            <a:srgbClr val="5B21B6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028432" y="2930652"/>
            <a:ext cx="219456" cy="219456"/>
          </a:xfrm>
          <a:prstGeom prst="ellipse">
            <a:avLst/>
          </a:prstGeom>
          <a:solidFill>
            <a:srgbClr val="5B21B6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759952" y="2153412"/>
            <a:ext cx="219456" cy="219456"/>
          </a:xfrm>
          <a:prstGeom prst="ellipse">
            <a:avLst/>
          </a:prstGeom>
          <a:solidFill>
            <a:srgbClr val="7C3AED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4572000" cy="914400"/>
          </a:xfrm>
          <a:prstGeom prst="rect">
            <a:avLst/>
          </a:prstGeom>
          <a:solidFill>
            <a:srgbClr val="0E1A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32004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Réalisé par : </a:t>
            </a:r>
            <a:r>
              <a:rPr lang="en-US" sz="1200" b="1" dirty="0">
                <a:solidFill>
                  <a:srgbClr val="FFFFFF"/>
                </a:solidFill>
              </a:rPr>
              <a:t>Yassine Rachid  •  Jassir Matallah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Année universitaire : 2025/2026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1554480" cy="658368"/>
          </a:xfrm>
          <a:prstGeom prst="rect">
            <a:avLst/>
          </a:prstGeom>
          <a:solidFill>
            <a:srgbClr val="0E1A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</a:rPr>
              <a:t>ANN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65760" y="46451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194560" y="4297680"/>
            <a:ext cx="1554480" cy="658368"/>
          </a:xfrm>
          <a:prstGeom prst="rect">
            <a:avLst/>
          </a:prstGeom>
          <a:solidFill>
            <a:srgbClr val="0E1A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194560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</a:rPr>
              <a:t>75%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94560" y="46451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Accuracy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4297680"/>
            <a:ext cx="1554480" cy="658368"/>
          </a:xfrm>
          <a:prstGeom prst="rect">
            <a:avLst/>
          </a:prstGeom>
          <a:solidFill>
            <a:srgbClr val="0E1A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023360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</a:rPr>
              <a:t>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023360" y="46451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Niveaux risque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101E"/>
          </a:solidFill>
          <a:ln w="12700">
            <a:solidFill>
              <a:srgbClr val="08101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Introduction — IA au Service de la Médecine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05840"/>
          </a:xfrm>
          <a:prstGeom prst="rect">
            <a:avLst/>
          </a:prstGeom>
          <a:solidFill>
            <a:srgbClr val="0E1A35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64008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L'intelligence artificielle permet aujourd'hui d'assister les médecins dans le diagnostic avec une précision comparable à celle d'experts cliniques.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417320" y="2606040"/>
            <a:ext cx="640080" cy="64008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41732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A35"/>
                </a:solidFill>
              </a:rPr>
              <a:t>Objectif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Prédire automatiquement le risque de diabète à partir de données médicales simples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242316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91840" y="242316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343400" y="2606040"/>
            <a:ext cx="640080" cy="64008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3434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A35"/>
                </a:solidFill>
              </a:rPr>
              <a:t>Données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7490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768 patients — 8 variables biologiques mesurables en consultation standard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42316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217920" y="242316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269480" y="2606040"/>
            <a:ext cx="640080" cy="64008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26948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0936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A35"/>
                </a:solidFill>
              </a:rPr>
              <a:t>Approche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37490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Réseau de Neurones Artificiel (ANN) — apprentissage supervisé sur données labellisées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1A35"/>
          </a:solidFill>
          <a:ln w="12700">
            <a:solidFill>
              <a:srgbClr val="0E1A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Pourquoi un ANN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1188720"/>
            <a:ext cx="2743200" cy="1097280"/>
          </a:xfrm>
          <a:prstGeom prst="ellipse">
            <a:avLst/>
          </a:prstGeom>
          <a:solidFill>
            <a:srgbClr val="5B21B6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Artificial Neural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Network (ANN)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3657600" cy="1005840"/>
          </a:xfrm>
          <a:prstGeom prst="rect">
            <a:avLst/>
          </a:prstGeom>
          <a:solidFill>
            <a:srgbClr val="0E1A35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256032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2624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Performance Classification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</a:rPr>
              <a:t>Les ANN excellent pour les problèmes de classification non-linéaire complexes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749040"/>
            <a:ext cx="3657600" cy="1005840"/>
          </a:xfrm>
          <a:prstGeom prst="rect">
            <a:avLst/>
          </a:prstGeom>
          <a:solidFill>
            <a:srgbClr val="0E1A35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6400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3813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</a:rPr>
              <a:t>Apprentissage Non-Linéaire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</a:rPr>
              <a:t>Capture des relations complexes entre variables biologiques impossibles à modéliser linéairement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560320"/>
            <a:ext cx="3657600" cy="1005840"/>
          </a:xfrm>
          <a:prstGeom prst="rect">
            <a:avLst/>
          </a:prstGeom>
          <a:solidFill>
            <a:srgbClr val="0E1A35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029200" y="2560320"/>
            <a:ext cx="64008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212080" y="2624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</a:rPr>
              <a:t>Adapté aux Données Médicales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080" y="3017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</a:rPr>
              <a:t>Robuste aux corrélations inter-variables et aux distributions non-gaussiennes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3749040"/>
            <a:ext cx="3657600" cy="1005840"/>
          </a:xfrm>
          <a:prstGeom prst="rect">
            <a:avLst/>
          </a:prstGeom>
          <a:solidFill>
            <a:srgbClr val="0E1A3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029200" y="374904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212080" y="3813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Flexibilité Architecturale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12080" y="4206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</a:rPr>
              <a:t>Nombre de couches et neurones ajustables selon la complexité du problème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1325880"/>
            <a:ext cx="25603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1325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vs Modèles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Traditionnels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1801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Régression Log / SVM / KNN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1325880"/>
            <a:ext cx="2377440" cy="914400"/>
          </a:xfrm>
          <a:prstGeom prst="rect">
            <a:avLst/>
          </a:prstGeom>
          <a:solidFill>
            <a:srgbClr val="1A0A3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400800" y="1325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ANN Choisi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pour ce Projet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1801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</a:rPr>
              <a:t>Dense(32) → Dense(16) → Sigmoid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Architecture du Modèle ANN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48840" y="2496312"/>
            <a:ext cx="36576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14884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8BFA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1965960" cy="36576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1965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32688" y="1216152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32688" y="1216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194767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A35"/>
                </a:solidFill>
              </a:rPr>
              <a:t>Couche Entrée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3591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Input Layer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24128" y="2770632"/>
            <a:ext cx="457200" cy="457200"/>
          </a:xfrm>
          <a:prstGeom prst="ellipse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024128" y="3273552"/>
            <a:ext cx="457200" cy="457200"/>
          </a:xfrm>
          <a:prstGeom prst="ellipse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024128" y="3776472"/>
            <a:ext cx="457200" cy="457200"/>
          </a:xfrm>
          <a:prstGeom prst="ellipse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8 neurones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(features)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2496312"/>
            <a:ext cx="36576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34340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8BFA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68880" y="1078992"/>
            <a:ext cx="1965960" cy="36576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468880" y="1078992"/>
            <a:ext cx="1965960" cy="640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127248" y="1216152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127248" y="1216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0" y="194767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A35"/>
                </a:solidFill>
              </a:rPr>
              <a:t>Couche Cachée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23591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Hidden Layer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18688" y="2770632"/>
            <a:ext cx="457200" cy="457200"/>
          </a:xfrm>
          <a:prstGeom prst="ellipse">
            <a:avLst/>
          </a:prstGeom>
          <a:solidFill>
            <a:srgbClr val="5B21B6">
              <a:alpha val="70000"/>
            </a:srgbClr>
          </a:solidFill>
          <a:ln w="190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61488" y="3246120"/>
            <a:ext cx="457200" cy="457200"/>
          </a:xfrm>
          <a:prstGeom prst="ellipse">
            <a:avLst/>
          </a:prstGeom>
          <a:solidFill>
            <a:srgbClr val="5B21B6">
              <a:alpha val="70000"/>
            </a:srgbClr>
          </a:solidFill>
          <a:ln w="190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18688" y="3776472"/>
            <a:ext cx="457200" cy="457200"/>
          </a:xfrm>
          <a:prstGeom prst="ellipse">
            <a:avLst/>
          </a:prstGeom>
          <a:solidFill>
            <a:srgbClr val="5B21B6">
              <a:alpha val="70000"/>
            </a:srgbClr>
          </a:solidFill>
          <a:ln w="190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661519" y="3246120"/>
            <a:ext cx="457200" cy="457200"/>
          </a:xfrm>
          <a:prstGeom prst="ellipse">
            <a:avLst/>
          </a:prstGeom>
          <a:solidFill>
            <a:srgbClr val="5B21B6">
              <a:alpha val="70000"/>
            </a:srgbClr>
          </a:solidFill>
          <a:ln w="190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514600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32 neurones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Activation: ReLU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37960" y="2496312"/>
            <a:ext cx="36576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53796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8BFA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1078992"/>
            <a:ext cx="1965960" cy="36576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19659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321808" y="1216152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321808" y="1216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54880" y="194767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A35"/>
                </a:solidFill>
              </a:rPr>
              <a:t>Couche Cachée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23591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Hidden Layer 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13248" y="2770632"/>
            <a:ext cx="457200" cy="457200"/>
          </a:xfrm>
          <a:prstGeom prst="ellipse">
            <a:avLst/>
          </a:prstGeom>
          <a:solidFill>
            <a:srgbClr val="7C3AED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5413248" y="3273552"/>
            <a:ext cx="457200" cy="457200"/>
          </a:xfrm>
          <a:prstGeom prst="ellipse">
            <a:avLst/>
          </a:prstGeom>
          <a:solidFill>
            <a:srgbClr val="7C3AED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5413248" y="3776472"/>
            <a:ext cx="457200" cy="457200"/>
          </a:xfrm>
          <a:prstGeom prst="ellipse">
            <a:avLst/>
          </a:prstGeom>
          <a:solidFill>
            <a:srgbClr val="7C3AED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09160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16 neurones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Activation: ReLU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0" y="1078992"/>
            <a:ext cx="1965960" cy="36576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858000" y="1078992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7516368" y="1216152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7516368" y="1216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49440" y="194767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A35"/>
                </a:solidFill>
              </a:rPr>
              <a:t>Couche Sortie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49440" y="23591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Output Layer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07808" y="2770632"/>
            <a:ext cx="457200" cy="457200"/>
          </a:xfrm>
          <a:prstGeom prst="ellipse">
            <a:avLst/>
          </a:prstGeom>
          <a:solidFill>
            <a:srgbClr val="10B981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903720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1 neurone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Activation: Sigmoid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784925"/>
            <a:ext cx="8595360" cy="347472"/>
          </a:xfrm>
          <a:prstGeom prst="rect">
            <a:avLst/>
          </a:prstGeom>
          <a:solidFill>
            <a:srgbClr val="0810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65760" y="4803213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Sequential([Dense(32, activation='relu'), Dense(16, activation='relu'), Dense(1, activation='sigmoid')])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1A35"/>
          </a:solidFill>
          <a:ln w="12700">
            <a:solidFill>
              <a:srgbClr val="0E1A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Fonctions d'Activation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23360" cy="3657600"/>
          </a:xfrm>
          <a:prstGeom prst="rect">
            <a:avLst/>
          </a:prstGeom>
          <a:solidFill>
            <a:srgbClr val="0E1A35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ReLU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</a:rPr>
              <a:t>Rectified Linear Unit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3840480" cy="457200"/>
          </a:xfrm>
          <a:prstGeom prst="rect">
            <a:avLst/>
          </a:prstGeom>
          <a:solidFill>
            <a:srgbClr val="080F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max(0, x)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✓ Élimine le gradient vanishing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815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✓ Calcul très rapide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5112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✓ Réseau apprend efficacement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9410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</a:rPr>
              <a:t>✓ Utilisée dans les couches cachées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023360" cy="3657600"/>
          </a:xfrm>
          <a:prstGeom prst="rect">
            <a:avLst/>
          </a:prstGeom>
          <a:solidFill>
            <a:srgbClr val="0E1A3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233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0" y="1170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Sigmoid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1673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</a:rPr>
              <a:t>Couche de Sortie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057400"/>
            <a:ext cx="3840480" cy="457200"/>
          </a:xfrm>
          <a:prstGeom prst="rect">
            <a:avLst/>
          </a:prstGeom>
          <a:solidFill>
            <a:srgbClr val="080F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1 / (1 + e⁻ˣ)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0916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✓ Sortie entre 0 et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0815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✓ Interprétable comme probabilité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5112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✓ Idéale pour classification binaire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9410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✓ Seuil à 0.5 → classe 0 ou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8412480" cy="0"/>
          </a:xfrm>
          <a:prstGeom prst="rect">
            <a:avLst/>
          </a:prstGeom>
          <a:solidFill>
            <a:srgbClr val="0E1A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" y="47640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</a:rPr>
              <a:t>→ ReLU dans les couches cachées • Sigmoid uniquement en sortie pour probabilité de diabète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Compilation du Modèle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1554480"/>
          </a:xfrm>
          <a:prstGeom prst="rect">
            <a:avLst/>
          </a:prstGeom>
          <a:solidFill>
            <a:srgbClr val="0810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</a:t>
            </a: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optimizer=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'adam'</a:t>
            </a: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'binary_crossentropy'</a:t>
            </a: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metrics=[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'accuracy'</a:t>
            </a: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274320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Optimizer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107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Adam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Adaptatif — combine RMSprop + Momentum. Convergence rapide et stable.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2971800"/>
            <a:ext cx="274320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91840" y="2971800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383280" y="3063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4107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Binary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Crossentropy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4114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Mesure l'écart entre probabilité prédite et label réel (0 ou 1).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971800"/>
            <a:ext cx="274320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217920" y="297180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Metric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34107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Accuracy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4114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Proportion de prédictions correctes sur l'ensemble de test.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1234440"/>
            <a:ext cx="3291840" cy="15544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669280" y="12618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35"/>
                </a:solidFill>
              </a:rPr>
              <a:t>Adam Optimizer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1645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Adaptatif par paramètre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Pas d'apprentissage auto-ajusté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Optimal sans tuning manuel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1A35"/>
          </a:solidFill>
          <a:ln w="12700">
            <a:solidFill>
              <a:srgbClr val="0E1A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Entraînement du Modèle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3200400"/>
          </a:xfrm>
          <a:prstGeom prst="rect">
            <a:avLst/>
          </a:prstGeom>
          <a:solidFill>
            <a:srgbClr val="0E1A35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417320" y="137160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</a:rPr>
              <a:t>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Epochs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</a:rPr>
              <a:t>Nombre de passes complètes sur les données d'entraînement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743200" cy="3200400"/>
          </a:xfrm>
          <a:prstGeom prst="rect">
            <a:avLst/>
          </a:prstGeom>
          <a:solidFill>
            <a:srgbClr val="0E1A35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434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</a:rPr>
              <a:t>32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9184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Batch Size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246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</a:rPr>
              <a:t>Échantillons traités par itération avant mise à jour des poids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234440"/>
            <a:ext cx="2743200" cy="3200400"/>
          </a:xfrm>
          <a:prstGeom prst="rect">
            <a:avLst/>
          </a:prstGeom>
          <a:solidFill>
            <a:srgbClr val="0E1A3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269480" y="13716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2694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✂️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</a:rPr>
              <a:t>20%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9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 Split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246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</a:rPr>
              <a:t>Proportion des données réservée pour valider le modèle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solidFill>
            <a:srgbClr val="08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4599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model.fit(X_train, y_train, epochs=10, batch_size=32, validation_split=0.2)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Résultats du Modèle ANN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286000" cy="2286000"/>
          </a:xfrm>
          <a:prstGeom prst="ellipse">
            <a:avLst/>
          </a:prstGeom>
          <a:solidFill>
            <a:srgbClr val="08101E"/>
          </a:solidFill>
          <a:ln w="381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78BFA"/>
                </a:solidFill>
              </a:rPr>
              <a:t>~75%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234440"/>
            <a:ext cx="5943600" cy="11430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926080" y="126187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35"/>
                </a:solidFill>
              </a:rPr>
              <a:t>Courbes d'Apprentissage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664208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📈 Accuracy : augmente progressivement à chaque epoch → bon apprentissage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📉 Loss : diminue régulièrement → modèle converge correctement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2834640" y="2468880"/>
          <a:ext cx="59436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3657600"/>
            <a:ext cx="2286000" cy="11887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274320" y="3703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</a:rPr>
              <a:t>✅ Convergence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</a:rPr>
              <a:t>Stable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4320" y="4206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Train ≈ Val Accuracy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Pas de sur-apprentissage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1A35"/>
          </a:solidFill>
          <a:ln w="12700">
            <a:solidFill>
              <a:srgbClr val="0E1A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Decision Layer — Aide au Diagnostic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737360" cy="1554480"/>
          </a:xfrm>
          <a:prstGeom prst="rect">
            <a:avLst/>
          </a:prstGeom>
          <a:solidFill>
            <a:srgbClr val="0E1A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Données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29968" y="16642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8BFA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1234440"/>
            <a:ext cx="1737360" cy="1554480"/>
          </a:xfrm>
          <a:prstGeom prst="rect">
            <a:avLst/>
          </a:prstGeom>
          <a:solidFill>
            <a:srgbClr val="0E1A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834640" y="13258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83464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31720" y="202996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Modèle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ANN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41648" y="16642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8BFA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97680" y="1234440"/>
            <a:ext cx="1737360" cy="1554480"/>
          </a:xfrm>
          <a:prstGeom prst="rect">
            <a:avLst/>
          </a:prstGeom>
          <a:solidFill>
            <a:srgbClr val="0E1A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846320" y="13258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43400" y="202996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Probabilité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[0, 1]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53328" y="16642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8BF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1234440"/>
            <a:ext cx="1737360" cy="1554480"/>
          </a:xfrm>
          <a:prstGeom prst="rect">
            <a:avLst/>
          </a:prstGeom>
          <a:solidFill>
            <a:srgbClr val="0E1A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858000" y="13258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580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⚕️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202996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Décision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Médicale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2743200" cy="1920240"/>
          </a:xfrm>
          <a:prstGeom prst="rect">
            <a:avLst/>
          </a:prstGeom>
          <a:solidFill>
            <a:srgbClr val="0E1A3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3154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✅  FAIBLE RISQUE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Probabilité &lt; 0.3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9136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</a:rPr>
              <a:t>Bilan annuel recommandé. Mode de vie sain. Pas de traitement urgent.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3063240"/>
            <a:ext cx="2743200" cy="1920240"/>
          </a:xfrm>
          <a:prstGeom prst="rect">
            <a:avLst/>
          </a:prstGeom>
          <a:solidFill>
            <a:srgbClr val="0E1A3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46120" y="306324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337560" y="3154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⚠️  RISQUE MODÉRÉ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37560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Probabilité 0.3 – 0.7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37560" y="39136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</a:rPr>
              <a:t>Consultation médicale recommandée. Tests approfondis (HbA1c). Suivi renforcé.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063240"/>
            <a:ext cx="2743200" cy="1920240"/>
          </a:xfrm>
          <a:prstGeom prst="rect">
            <a:avLst/>
          </a:prstGeom>
          <a:solidFill>
            <a:srgbClr val="0E1A3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217920" y="306324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309360" y="3154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🚨  RISQUE ÉLEVÉ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9360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Probabilité &gt; 0.7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39136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</a:rPr>
              <a:t>Prise en charge urgente. Traitement médical immédiat. Hospitalisation possible.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E1A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E1A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8BFA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Ce projet démontre la puissance de l'IA dans le diagnostic médical préventif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en utilisant un ANN pour prédire le risque de diabète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2286000" cy="502920"/>
          </a:xfrm>
          <a:prstGeom prst="rect">
            <a:avLst/>
          </a:prstGeom>
          <a:solidFill>
            <a:srgbClr val="0E1A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</a:rPr>
              <a:t>✓  ANN (Dense 32-16-1)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331720"/>
            <a:ext cx="2286000" cy="502920"/>
          </a:xfrm>
          <a:prstGeom prst="rect">
            <a:avLst/>
          </a:prstGeom>
          <a:solidFill>
            <a:srgbClr val="0E1A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</a:rPr>
              <a:t>✓  ReLU + Sigmoid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2286000" cy="502920"/>
          </a:xfrm>
          <a:prstGeom prst="rect">
            <a:avLst/>
          </a:prstGeom>
          <a:solidFill>
            <a:srgbClr val="0E1A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</a:rPr>
              <a:t>✓  Adam Optimizer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990088"/>
            <a:ext cx="2286000" cy="502920"/>
          </a:xfrm>
          <a:prstGeom prst="rect">
            <a:avLst/>
          </a:prstGeom>
          <a:solidFill>
            <a:srgbClr val="0E1A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005840" y="29900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</a:rPr>
              <a:t>✓  Binary Crossentropy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2990088"/>
            <a:ext cx="2286000" cy="502920"/>
          </a:xfrm>
          <a:prstGeom prst="rect">
            <a:avLst/>
          </a:prstGeom>
          <a:solidFill>
            <a:srgbClr val="0E1A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566160" y="29900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</a:rPr>
              <a:t>✓  Accuracy ~75%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990088"/>
            <a:ext cx="2286000" cy="502920"/>
          </a:xfrm>
          <a:prstGeom prst="rect">
            <a:avLst/>
          </a:prstGeom>
          <a:solidFill>
            <a:srgbClr val="0E1A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126480" y="29900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</a:rPr>
              <a:t>✓  Decision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6B6D4"/>
                </a:solidFill>
              </a:rPr>
              <a:t>Le modèle ANN permet une prédiction fiable et exploitable cliniquement.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0" y="4663440"/>
            <a:ext cx="4572000" cy="347472"/>
          </a:xfrm>
          <a:prstGeom prst="rect">
            <a:avLst/>
          </a:prstGeom>
          <a:solidFill>
            <a:srgbClr val="0E1A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286000" y="4663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Yassine Rachid  •  Jassir Matallah  •  2025/2026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1214</Words>
  <Application>Microsoft Office PowerPoint</Application>
  <PresentationFormat>On-screen Show (16:9)</PresentationFormat>
  <Paragraphs>306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Intelligent de Prédiction du Diabète - IA Avancée</dc:title>
  <dc:subject>PptxGenJS Presentation</dc:subject>
  <dc:creator>PptxGenJS</dc:creator>
  <cp:lastModifiedBy>yassine rachid</cp:lastModifiedBy>
  <cp:revision>2</cp:revision>
  <dcterms:created xsi:type="dcterms:W3CDTF">2026-05-17T13:17:11Z</dcterms:created>
  <dcterms:modified xsi:type="dcterms:W3CDTF">2026-05-17T14:00:12Z</dcterms:modified>
</cp:coreProperties>
</file>